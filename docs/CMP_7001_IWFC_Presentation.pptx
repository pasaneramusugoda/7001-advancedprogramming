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everyone. My name is [Your Name], and today I am presenting the software architecture, object-oriented design, and empirical verification of the Intelligent Wellness and Fitness Center prototype, developed for CMP 7001 Advanced Programming. The video link on this title slide provides direct access to the live recording of this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scenario centers on the Intelligent Wellness and Fitness Center. To replace disjointed manual logbooks and spreadsheets, our prototype addresses three primary actors: Administrators who oversee equipment and global maintenance, Instructors who plan classes and report faults, and Members who view schedules and reserve class slots.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the architecture, the system is engineered around a clean six-tier decoupled architecture. At the foundation, we define an Identifiable&lt;ID&gt; interface, which powers our generic Repository&lt;T, ID&gt; contract. Rather than coupling client code to individual controllers, all subsystem interactions pass through our IWFCSystemFacade.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polymorphism is prominently showcased in our mechanical wear tracking. By overriding calculateWearIndex() in Treadmill, SpinBike, and RowingMachine, our reporting subsystems compute wear scores polymorphically without knowing the concrete machine type, fully satisfying the Open/Closed Principle.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creational design patterns, we implemented the Factory Method pattern via EquipmentFactory to isolate machine instantiation and maintenance threshold calibration. Alongside it, we implemented the Fluent Builder pattern in SessionBuilder to eliminate telescoping constructors when configuring complex multi-attribute fitness sessions.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structural and behavioural design patterns: structurally, the IWFCSystemFacade acts as our central orchestration hub, enforcing RBAC across all operations. In the behavioural category, the Observer pattern decouples system notifications for preventative maintenance, while the Strategy pattern encapsulates validation algorithms into interchangeable rules.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learning outcome three, we created a specialized checked exception hierarchy rooted in IWFCException. InvalidBookingException protects scheduling boundaries, UnauthorizedAccessException enforces role boundaries, and DuplicateDataException prevents ID collisions. Using checked exceptions compels calling layers to handle error scenarios, ensuring the system fails safely.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point in the video presentation, I switch screens to the live terminal to run our automated simulation bot, DemoBot. The bot executes all 29 lifecycle steps across all three roles with live console feedback, demonstrating role logins, exception triggers, preventative maintenance alerts, and repair lifecycle completion.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empirically verify our prototype, we engineered a thorough unit test suite using JUnit 5. In strict accordance with the assessment brief, we included a dedicated test suite, RobustnessExceptionTest, containing intentional failing and negative tests. These tests use JUnit's assertThrows to verify that custom exceptions are reliably thrown under error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engineering is an iterative learning process, and we identified and resolved several notable challenges during development. For example, our console scanner threw NoSuchElementException when fed scripted inputs; an assertion mismatch occurred in our exception tests; and adjacent sessions were initially flagged as collisions before we refined our temporal overlap algorithm.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Reflecting on the module, this project directly cultivated the four Cardiff Met EDGE pillars. Digital skills were sharpened through modern Java idioms, generics, and automated test orchestration. Ethical awareness was applied by securing user data through role-based access control and protecting member safety through proactive equipment servicing.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IWFC prototype demonstrates how advanced object-oriented programming, design patterns, and rigorous defensive programming can solve realistic operational challenges. The system is fully tested, verified by an automated bot, and structured for enterprise scalability. Thank you for your time, and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548640"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2011680"/>
          </a:xfrm>
          <a:prstGeom prst="rect">
            <a:avLst/>
          </a:prstGeom>
          <a:noFill/>
        </p:spPr>
        <p:txBody>
          <a:bodyPr wrap="square">
            <a:spAutoFit/>
          </a:bodyPr>
          <a:lstStyle/>
          <a:p>
            <a:pPr>
              <a:defRPr sz="3600" b="1">
                <a:solidFill>
                  <a:srgbClr val="F8FAFC"/>
                </a:solidFill>
              </a:defRPr>
            </a:pPr>
            <a:r>
              <a:t>INTELLIGENT WELLNESS AND FITNESS CENTER</a:t>
            </a:r>
          </a:p>
          <a:p>
            <a:pPr>
              <a:spcBef>
                <a:spcPts val="800"/>
              </a:spcBef>
              <a:defRPr sz="2000">
                <a:solidFill>
                  <a:srgbClr val="06B6D4"/>
                </a:solidFill>
              </a:defRPr>
            </a:pPr>
            <a:r>
              <a:t>Advanced Object-Oriented Software Architecture &amp; Prototype Verification</a:t>
            </a:r>
          </a:p>
          <a:p>
            <a:pPr>
              <a:spcBef>
                <a:spcPts val="1200"/>
              </a:spcBef>
              <a:defRPr sz="1400">
                <a:solidFill>
                  <a:srgbClr val="94A3B8"/>
                </a:solidFill>
              </a:defRPr>
            </a:pPr>
            <a:r>
              <a:t>CMP 7001 – Advanced Programming | Cardiff Metropolitan University / ICBT</a:t>
            </a:r>
          </a:p>
        </p:txBody>
      </p:sp>
      <p:sp>
        <p:nvSpPr>
          <p:cNvPr id="5" name="Rounded Rectangle 4"/>
          <p:cNvSpPr/>
          <p:nvPr/>
        </p:nvSpPr>
        <p:spPr>
          <a:xfrm>
            <a:off x="731520" y="393192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114800"/>
            <a:ext cx="4572000" cy="1828800"/>
          </a:xfrm>
          <a:prstGeom prst="rect">
            <a:avLst/>
          </a:prstGeom>
          <a:noFill/>
        </p:spPr>
        <p:txBody>
          <a:bodyPr wrap="square">
            <a:spAutoFit/>
          </a:bodyPr>
          <a:lstStyle/>
          <a:p>
            <a:pPr>
              <a:defRPr sz="1200" b="1">
                <a:solidFill>
                  <a:srgbClr val="06B6D4"/>
                </a:solidFill>
              </a:defRPr>
            </a:pPr>
            <a:r>
              <a:t>STUDENT &amp; COURSEWORK DETAILS</a:t>
            </a:r>
          </a:p>
          <a:p>
            <a:pPr>
              <a:spcBef>
                <a:spcPts val="400"/>
              </a:spcBef>
              <a:defRPr sz="1200">
                <a:solidFill>
                  <a:srgbClr val="F8FAFC"/>
                </a:solidFill>
              </a:defRPr>
            </a:pPr>
            <a:r>
              <a:t>• Assessment: PRES 1 (25% Weighting)</a:t>
            </a:r>
          </a:p>
          <a:p>
            <a:pPr>
              <a:spcBef>
                <a:spcPts val="400"/>
              </a:spcBef>
              <a:defRPr sz="1200">
                <a:solidFill>
                  <a:srgbClr val="F8FAFC"/>
                </a:solidFill>
              </a:defRPr>
            </a:pPr>
            <a:r>
              <a:t>• Student Name: [Your Name]</a:t>
            </a:r>
          </a:p>
          <a:p>
            <a:pPr>
              <a:spcBef>
                <a:spcPts val="400"/>
              </a:spcBef>
              <a:defRPr sz="1200">
                <a:solidFill>
                  <a:srgbClr val="F8FAFC"/>
                </a:solidFill>
              </a:defRPr>
            </a:pPr>
            <a:r>
              <a:t>• Cardiff Met ID: [Your ID] | ICBT ID: [Your ICBT ID]</a:t>
            </a:r>
          </a:p>
          <a:p>
            <a:pPr>
              <a:spcBef>
                <a:spcPts val="400"/>
              </a:spcBef>
              <a:defRPr sz="1200">
                <a:solidFill>
                  <a:srgbClr val="F8FAFC"/>
                </a:solidFill>
              </a:defRPr>
            </a:pPr>
            <a:r>
              <a:t>• Module Leader: royian11@gmail.com</a:t>
            </a:r>
          </a:p>
        </p:txBody>
      </p:sp>
      <p:sp>
        <p:nvSpPr>
          <p:cNvPr id="7" name="Rounded Rectangle 6"/>
          <p:cNvSpPr/>
          <p:nvPr/>
        </p:nvSpPr>
        <p:spPr>
          <a:xfrm>
            <a:off x="6217920" y="3931920"/>
            <a:ext cx="5212080" cy="21945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4114800"/>
            <a:ext cx="4663440" cy="1828800"/>
          </a:xfrm>
          <a:prstGeom prst="rect">
            <a:avLst/>
          </a:prstGeom>
          <a:noFill/>
        </p:spPr>
        <p:txBody>
          <a:bodyPr wrap="square">
            <a:spAutoFit/>
          </a:bodyPr>
          <a:lstStyle/>
          <a:p>
            <a:pPr>
              <a:defRPr sz="1200" b="1">
                <a:solidFill>
                  <a:srgbClr val="10B981"/>
                </a:solidFill>
              </a:defRPr>
            </a:pPr>
            <a:r>
              <a:t>10-MINUTE VIDEO WALKTHROUGH LINK</a:t>
            </a:r>
          </a:p>
          <a:p>
            <a:pPr>
              <a:spcBef>
                <a:spcPts val="600"/>
              </a:spcBef>
              <a:defRPr sz="1100">
                <a:solidFill>
                  <a:srgbClr val="94A3B8"/>
                </a:solidFill>
              </a:defRPr>
            </a:pPr>
            <a:r>
              <a:t>YouTube / OneDrive Video URL:</a:t>
            </a:r>
          </a:p>
          <a:p>
            <a:pPr>
              <a:spcBef>
                <a:spcPts val="400"/>
              </a:spcBef>
              <a:defRPr sz="1400" b="1">
                <a:solidFill>
                  <a:srgbClr val="06B6D4"/>
                </a:solidFill>
              </a:defRPr>
            </a:pPr>
            <a:r>
              <a:t>https://youtu.be/YOUR_VIDEO_LINK_HERE</a:t>
            </a:r>
          </a:p>
          <a:p>
            <a:pPr>
              <a:spcBef>
                <a:spcPts val="800"/>
              </a:spcBef>
              <a:defRPr sz="1000">
                <a:solidFill>
                  <a:srgbClr val="94A3B8"/>
                </a:solidFill>
              </a:defRPr>
            </a:pPr>
            <a:r>
              <a:t>(Also submitted via Cardiff Met Moodle Turnitin &amp; ICBT 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PROBLEM DOMAIN &amp; BUSINESS CONTEXT</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Problem Scenario &amp; Stakeholder Requirements</a:t>
            </a:r>
          </a:p>
        </p:txBody>
      </p:sp>
      <p:sp>
        <p:nvSpPr>
          <p:cNvPr id="5" name="Rounded Rectangle 4"/>
          <p:cNvSpPr/>
          <p:nvPr/>
        </p:nvSpPr>
        <p:spPr>
          <a:xfrm>
            <a:off x="731520"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28416" cy="10972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871216" cy="4114800"/>
          </a:xfrm>
          <a:prstGeom prst="rect">
            <a:avLst/>
          </a:prstGeom>
          <a:noFill/>
        </p:spPr>
        <p:txBody>
          <a:bodyPr wrap="square">
            <a:spAutoFit/>
          </a:bodyPr>
          <a:lstStyle/>
          <a:p>
            <a:pPr>
              <a:defRPr sz="1400" b="1">
                <a:solidFill>
                  <a:srgbClr val="0F172A"/>
                </a:solidFill>
              </a:defRPr>
            </a:pPr>
            <a:r>
              <a:t>Administrator (Operations)</a:t>
            </a:r>
          </a:p>
          <a:p>
            <a:pPr>
              <a:spcBef>
                <a:spcPts val="800"/>
              </a:spcBef>
              <a:defRPr sz="1100">
                <a:solidFill>
                  <a:srgbClr val="64748B"/>
                </a:solidFill>
              </a:defRPr>
            </a:pPr>
            <a:r>
              <a:t>• Equipment Inventory Control (Add, edit, decommission).</a:t>
            </a:r>
          </a:p>
          <a:p>
            <a:pPr>
              <a:spcBef>
                <a:spcPts val="800"/>
              </a:spcBef>
              <a:defRPr sz="1100">
                <a:solidFill>
                  <a:srgbClr val="64748B"/>
                </a:solidFill>
              </a:defRPr>
            </a:pPr>
            <a:r>
              <a:t>• Cumulative Usage Tracking across all machine assets.</a:t>
            </a:r>
          </a:p>
          <a:p>
            <a:pPr>
              <a:spcBef>
                <a:spcPts val="800"/>
              </a:spcBef>
              <a:defRPr sz="1100">
                <a:solidFill>
                  <a:srgbClr val="64748B"/>
                </a:solidFill>
              </a:defRPr>
            </a:pPr>
            <a:r>
              <a:t>• Preventative Maintenance Thresholds (Alerts at 200h/150h).</a:t>
            </a:r>
          </a:p>
          <a:p>
            <a:pPr>
              <a:spcBef>
                <a:spcPts val="800"/>
              </a:spcBef>
              <a:defRPr sz="1100">
                <a:solidFill>
                  <a:srgbClr val="64748B"/>
                </a:solidFill>
              </a:defRPr>
            </a:pPr>
            <a:r>
              <a:t>• Global Maintenance Ticket Log oversight &amp; task assignment.</a:t>
            </a:r>
          </a:p>
          <a:p>
            <a:pPr>
              <a:spcBef>
                <a:spcPts val="800"/>
              </a:spcBef>
              <a:defRPr sz="1100">
                <a:solidFill>
                  <a:srgbClr val="64748B"/>
                </a:solidFill>
              </a:defRPr>
            </a:pPr>
            <a:r>
              <a:t>• System User Registry &amp; Role-Based Security oversight.</a:t>
            </a:r>
          </a:p>
        </p:txBody>
      </p:sp>
      <p:sp>
        <p:nvSpPr>
          <p:cNvPr id="8" name="Rounded Rectangle 7"/>
          <p:cNvSpPr/>
          <p:nvPr/>
        </p:nvSpPr>
        <p:spPr>
          <a:xfrm>
            <a:off x="4416552"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6552" y="1645920"/>
            <a:ext cx="3328416" cy="10972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1874520"/>
            <a:ext cx="2871216" cy="4114800"/>
          </a:xfrm>
          <a:prstGeom prst="rect">
            <a:avLst/>
          </a:prstGeom>
          <a:noFill/>
        </p:spPr>
        <p:txBody>
          <a:bodyPr wrap="square">
            <a:spAutoFit/>
          </a:bodyPr>
          <a:lstStyle/>
          <a:p>
            <a:pPr>
              <a:defRPr sz="1400" b="1">
                <a:solidFill>
                  <a:srgbClr val="0F172A"/>
                </a:solidFill>
              </a:defRPr>
            </a:pPr>
            <a:r>
              <a:t>Instructor (Staff)</a:t>
            </a:r>
          </a:p>
          <a:p>
            <a:pPr>
              <a:spcBef>
                <a:spcPts val="800"/>
              </a:spcBef>
              <a:defRPr sz="1100">
                <a:solidFill>
                  <a:srgbClr val="64748B"/>
                </a:solidFill>
              </a:defRPr>
            </a:pPr>
            <a:r>
              <a:t>• Fitness Class Scheduling (HIIT, Yoga, Pilates, Spin).</a:t>
            </a:r>
          </a:p>
          <a:p>
            <a:pPr>
              <a:spcBef>
                <a:spcPts val="800"/>
              </a:spcBef>
              <a:defRPr sz="1100">
                <a:solidFill>
                  <a:srgbClr val="64748B"/>
                </a:solidFill>
              </a:defRPr>
            </a:pPr>
            <a:r>
              <a:t>• Specialized Equipment Allocation &amp; Reservation.</a:t>
            </a:r>
          </a:p>
          <a:p>
            <a:pPr>
              <a:spcBef>
                <a:spcPts val="800"/>
              </a:spcBef>
              <a:defRPr sz="1100">
                <a:solidFill>
                  <a:srgbClr val="64748B"/>
                </a:solidFill>
              </a:defRPr>
            </a:pPr>
            <a:r>
              <a:t>• Strict Collision Prevention (Zero studio/equipment overlap).</a:t>
            </a:r>
          </a:p>
          <a:p>
            <a:pPr>
              <a:spcBef>
                <a:spcPts val="800"/>
              </a:spcBef>
              <a:defRPr sz="1100">
                <a:solidFill>
                  <a:srgbClr val="64748B"/>
                </a:solidFill>
              </a:defRPr>
            </a:pPr>
            <a:r>
              <a:t>• Recurring Weekly Class Series creation (e.g. 4-week series).</a:t>
            </a:r>
          </a:p>
          <a:p>
            <a:pPr>
              <a:spcBef>
                <a:spcPts val="800"/>
              </a:spcBef>
              <a:defRPr sz="1100">
                <a:solidFill>
                  <a:srgbClr val="64748B"/>
                </a:solidFill>
              </a:defRPr>
            </a:pPr>
            <a:r>
              <a:t>• Mechanical Fault Reporting (Urgency: Low to Critical).</a:t>
            </a:r>
          </a:p>
        </p:txBody>
      </p:sp>
      <p:sp>
        <p:nvSpPr>
          <p:cNvPr id="11" name="Rounded Rectangle 10"/>
          <p:cNvSpPr/>
          <p:nvPr/>
        </p:nvSpPr>
        <p:spPr>
          <a:xfrm>
            <a:off x="8101584"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01584" y="1645920"/>
            <a:ext cx="3328416"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0184" y="1874520"/>
            <a:ext cx="2871216" cy="4114800"/>
          </a:xfrm>
          <a:prstGeom prst="rect">
            <a:avLst/>
          </a:prstGeom>
          <a:noFill/>
        </p:spPr>
        <p:txBody>
          <a:bodyPr wrap="square">
            <a:spAutoFit/>
          </a:bodyPr>
          <a:lstStyle/>
          <a:p>
            <a:pPr>
              <a:defRPr sz="1400" b="1">
                <a:solidFill>
                  <a:srgbClr val="0F172A"/>
                </a:solidFill>
              </a:defRPr>
            </a:pPr>
            <a:r>
              <a:t>Member (Client)</a:t>
            </a:r>
          </a:p>
          <a:p>
            <a:pPr>
              <a:spcBef>
                <a:spcPts val="800"/>
              </a:spcBef>
              <a:defRPr sz="1100">
                <a:solidFill>
                  <a:srgbClr val="64748B"/>
                </a:solidFill>
              </a:defRPr>
            </a:pPr>
            <a:r>
              <a:t>• Timetable Inspection &amp; Real-time Slot Availability.</a:t>
            </a:r>
          </a:p>
          <a:p>
            <a:pPr>
              <a:spcBef>
                <a:spcPts val="800"/>
              </a:spcBef>
              <a:defRPr sz="1100">
                <a:solidFill>
                  <a:srgbClr val="64748B"/>
                </a:solidFill>
              </a:defRPr>
            </a:pPr>
            <a:r>
              <a:t>• Class Slot Booking &amp; Self-service Cancellation.</a:t>
            </a:r>
          </a:p>
          <a:p>
            <a:pPr>
              <a:spcBef>
                <a:spcPts val="800"/>
              </a:spcBef>
              <a:defRPr sz="1100">
                <a:solidFill>
                  <a:srgbClr val="64748B"/>
                </a:solidFill>
              </a:defRPr>
            </a:pPr>
            <a:r>
              <a:t>• Strict Overlap Guarding (Prevents member double-booking).</a:t>
            </a:r>
          </a:p>
          <a:p>
            <a:pPr>
              <a:spcBef>
                <a:spcPts val="800"/>
              </a:spcBef>
              <a:defRPr sz="1100">
                <a:solidFill>
                  <a:srgbClr val="64748B"/>
                </a:solidFill>
              </a:defRPr>
            </a:pPr>
            <a:r>
              <a:t>• Automated Schedule &amp; Wellness Notifications.</a:t>
            </a:r>
          </a:p>
          <a:p>
            <a:pPr>
              <a:spcBef>
                <a:spcPts val="800"/>
              </a:spcBef>
              <a:defRPr sz="1100">
                <a:solidFill>
                  <a:srgbClr val="64748B"/>
                </a:solidFill>
              </a:defRPr>
            </a:pPr>
            <a:r>
              <a:t>• Strict RBAC Protection (Cannot access Admin audit logs).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SYSTEM ARCHITECTURE &amp; HIGH-LEVEL DESIGN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Domain Model &amp; 6-Tier Architecture</a:t>
            </a:r>
          </a:p>
        </p:txBody>
      </p:sp>
      <p:sp>
        <p:nvSpPr>
          <p:cNvPr id="5" name="Rounded Rectangle 4"/>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defRPr sz="1300" b="1">
                <a:solidFill>
                  <a:srgbClr val="2563EB"/>
                </a:solidFill>
              </a:defRPr>
            </a:pPr>
            <a:r>
              <a:t>6-TIER DECOUPLED ARCHITECTURE</a:t>
            </a:r>
          </a:p>
          <a:p>
            <a:pPr>
              <a:spcBef>
                <a:spcPts val="600"/>
              </a:spcBef>
              <a:defRPr b="1" sz="1100">
                <a:solidFill>
                  <a:srgbClr val="0F172A"/>
                </a:solidFill>
              </a:defRPr>
            </a:pPr>
            <a:r>
              <a:t>• Presentation Layer:</a:t>
            </a:r>
          </a:p>
          <a:p>
            <a:pPr>
              <a:defRPr sz="1000">
                <a:solidFill>
                  <a:srgbClr val="64748B"/>
                </a:solidFill>
              </a:defRPr>
            </a:pPr>
            <a:r>
              <a:t>   ConsoleMenu CLI &amp; Automated DemoBot</a:t>
            </a:r>
          </a:p>
          <a:p>
            <a:pPr>
              <a:spcBef>
                <a:spcPts val="600"/>
              </a:spcBef>
              <a:defRPr b="1" sz="1100">
                <a:solidFill>
                  <a:srgbClr val="0F172A"/>
                </a:solidFill>
              </a:defRPr>
            </a:pPr>
            <a:r>
              <a:t>• Facade / Orchestration:</a:t>
            </a:r>
          </a:p>
          <a:p>
            <a:pPr>
              <a:defRPr sz="1000">
                <a:solidFill>
                  <a:srgbClr val="64748B"/>
                </a:solidFill>
              </a:defRPr>
            </a:pPr>
            <a:r>
              <a:t>   IWFCSystemFacade enforcing RBAC and atomic operations</a:t>
            </a:r>
          </a:p>
          <a:p>
            <a:pPr>
              <a:spcBef>
                <a:spcPts val="600"/>
              </a:spcBef>
              <a:defRPr b="1" sz="1100">
                <a:solidFill>
                  <a:srgbClr val="0F172A"/>
                </a:solidFill>
              </a:defRPr>
            </a:pPr>
            <a:r>
              <a:t>• Service Layer:</a:t>
            </a:r>
          </a:p>
          <a:p>
            <a:pPr>
              <a:defRPr sz="1000">
                <a:solidFill>
                  <a:srgbClr val="64748B"/>
                </a:solidFill>
              </a:defRPr>
            </a:pPr>
            <a:r>
              <a:t>   AuthService, EquipmentService, SchedulingService, MaintenanceService</a:t>
            </a:r>
          </a:p>
          <a:p>
            <a:pPr>
              <a:spcBef>
                <a:spcPts val="600"/>
              </a:spcBef>
              <a:defRPr b="1" sz="1100">
                <a:solidFill>
                  <a:srgbClr val="0F172A"/>
                </a:solidFill>
              </a:defRPr>
            </a:pPr>
            <a:r>
              <a:t>• Design Patterns:</a:t>
            </a:r>
          </a:p>
          <a:p>
            <a:pPr>
              <a:defRPr sz="1000">
                <a:solidFill>
                  <a:srgbClr val="64748B"/>
                </a:solidFill>
              </a:defRPr>
            </a:pPr>
            <a:r>
              <a:t>   Factory Method, Fluent Builder, Observer Subject, Strategy</a:t>
            </a:r>
          </a:p>
          <a:p>
            <a:pPr>
              <a:spcBef>
                <a:spcPts val="600"/>
              </a:spcBef>
              <a:defRPr b="1" sz="1100">
                <a:solidFill>
                  <a:srgbClr val="0F172A"/>
                </a:solidFill>
              </a:defRPr>
            </a:pPr>
            <a:r>
              <a:t>• Generic Data Access:</a:t>
            </a:r>
          </a:p>
          <a:p>
            <a:pPr>
              <a:defRPr sz="1000">
                <a:solidFill>
                  <a:srgbClr val="64748B"/>
                </a:solidFill>
              </a:defRPr>
            </a:pPr>
            <a:r>
              <a:t>   Repository&lt;T, ID&gt; &amp; InMemoryRepository&lt;T, ID&gt; with synchronized Map</a:t>
            </a:r>
          </a:p>
          <a:p>
            <a:pPr>
              <a:spcBef>
                <a:spcPts val="600"/>
              </a:spcBef>
              <a:defRPr b="1" sz="1100">
                <a:solidFill>
                  <a:srgbClr val="0F172A"/>
                </a:solidFill>
              </a:defRPr>
            </a:pPr>
            <a:r>
              <a:t>• Domain Entities:</a:t>
            </a:r>
          </a:p>
          <a:p>
            <a:pPr>
              <a:defRPr sz="1000">
                <a:solidFill>
                  <a:srgbClr val="64748B"/>
                </a:solidFill>
              </a:defRPr>
            </a:pPr>
            <a:r>
              <a:t>   User hierarchy, Equipment hierarchy, FitnessSession, Booking, Maintenance</a:t>
            </a:r>
          </a:p>
        </p:txBody>
      </p:sp>
      <p:sp>
        <p:nvSpPr>
          <p:cNvPr id="7" name="Rounded Rectangle 6"/>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defRPr sz="1300" b="1">
                <a:solidFill>
                  <a:srgbClr val="06B6D4"/>
                </a:solidFill>
              </a:defRPr>
            </a:pPr>
            <a:r>
              <a:t>STRUCTURAL TOPOGRAPHY &amp; CONTRACTS</a:t>
            </a:r>
          </a:p>
          <a:p>
            <a:pPr>
              <a:spcBef>
                <a:spcPts val="600"/>
              </a:spcBef>
              <a:defRPr b="1" sz="1100">
                <a:solidFill>
                  <a:srgbClr val="0F172A"/>
                </a:solidFill>
              </a:defRPr>
            </a:pPr>
            <a:r>
              <a:t>• Generic Contract: Identifiable&lt;ID&gt;:</a:t>
            </a:r>
          </a:p>
          <a:p>
            <a:pPr>
              <a:defRPr sz="1000">
                <a:solidFill>
                  <a:srgbClr val="64748B"/>
                </a:solidFill>
              </a:defRPr>
            </a:pPr>
            <a:r>
              <a:t>   Universal key contract allowing generic repository binding without concrete type coupling.</a:t>
            </a:r>
          </a:p>
          <a:p>
            <a:pPr>
              <a:spcBef>
                <a:spcPts val="600"/>
              </a:spcBef>
              <a:defRPr b="1" sz="1100">
                <a:solidFill>
                  <a:srgbClr val="0F172A"/>
                </a:solidFill>
              </a:defRPr>
            </a:pPr>
            <a:r>
              <a:t>• User Taxonomy (Role-Based):</a:t>
            </a:r>
          </a:p>
          <a:p>
            <a:pPr>
              <a:defRPr sz="1000">
                <a:solidFill>
                  <a:srgbClr val="64748B"/>
                </a:solidFill>
              </a:defRPr>
            </a:pPr>
            <a:r>
              <a:t>   Abstract User extended by Admin (dept), Instructor (specialization), and Member (tier).</a:t>
            </a:r>
          </a:p>
          <a:p>
            <a:pPr>
              <a:spcBef>
                <a:spcPts val="600"/>
              </a:spcBef>
              <a:defRPr b="1" sz="1100">
                <a:solidFill>
                  <a:srgbClr val="0F172A"/>
                </a:solidFill>
              </a:defRPr>
            </a:pPr>
            <a:r>
              <a:t>• Equipment Taxonomy (Polymorphic):</a:t>
            </a:r>
          </a:p>
          <a:p>
            <a:pPr>
              <a:defRPr sz="1000">
                <a:solidFill>
                  <a:srgbClr val="64748B"/>
                </a:solidFill>
              </a:defRPr>
            </a:pPr>
            <a:r>
              <a:t>   Abstract Equipment extended by Treadmill, SpinBike, RowingMachine with custom wear models.</a:t>
            </a:r>
          </a:p>
          <a:p>
            <a:pPr>
              <a:spcBef>
                <a:spcPts val="600"/>
              </a:spcBef>
              <a:defRPr b="1" sz="1100">
                <a:solidFill>
                  <a:srgbClr val="0F172A"/>
                </a:solidFill>
              </a:defRPr>
            </a:pPr>
            <a:r>
              <a:t>• Session Scheduling Contract:</a:t>
            </a:r>
          </a:p>
          <a:p>
            <a:pPr>
              <a:defRPr sz="1000">
                <a:solidFill>
                  <a:srgbClr val="64748B"/>
                </a:solidFill>
              </a:defRPr>
            </a:pPr>
            <a:r>
              <a:t>   FitnessSession encapsulates studio, instructor, timing, capacity, equipment, recurrence.</a:t>
            </a:r>
          </a:p>
          <a:p>
            <a:pPr>
              <a:spcBef>
                <a:spcPts val="600"/>
              </a:spcBef>
              <a:defRPr b="1" sz="1100">
                <a:solidFill>
                  <a:srgbClr val="0F172A"/>
                </a:solidFill>
              </a:defRPr>
            </a:pPr>
            <a:r>
              <a:t>• Decoupled In-Memory Storage:</a:t>
            </a:r>
          </a:p>
          <a:p>
            <a:pPr>
              <a:defRPr sz="1000">
                <a:solidFill>
                  <a:srgbClr val="64748B"/>
                </a:solidFill>
              </a:defRPr>
            </a:pPr>
            <a:r>
              <a:t>   Map&lt;ID, T&gt; backing store guarantees O(1) primary key lookups with zero database overhead.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LO1 &amp; LO2 CRITICAL EVALUATION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Object-Oriented Principles &amp; Dynamic Polymorphism</a:t>
            </a:r>
          </a:p>
        </p:txBody>
      </p:sp>
      <p:sp>
        <p:nvSpPr>
          <p:cNvPr id="5" name="Rounded Rectangle 4"/>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defRPr sz="1300" b="1">
                <a:solidFill>
                  <a:srgbClr val="2563EB"/>
                </a:solidFill>
              </a:defRPr>
            </a:pPr>
            <a:r>
              <a:t>CORE OOP PILLARS IN IWFC</a:t>
            </a:r>
          </a:p>
          <a:p>
            <a:pPr>
              <a:spcBef>
                <a:spcPts val="800"/>
              </a:spcBef>
              <a:defRPr b="1" sz="1100">
                <a:solidFill>
                  <a:srgbClr val="0F172A"/>
                </a:solidFill>
              </a:defRPr>
            </a:pPr>
            <a:r>
              <a:t>• Abstraction:</a:t>
            </a:r>
          </a:p>
          <a:p>
            <a:pPr>
              <a:defRPr sz="1000">
                <a:solidFill>
                  <a:srgbClr val="64748B"/>
                </a:solidFill>
              </a:defRPr>
            </a:pPr>
            <a:r>
              <a:t>   Separating contract from implementation via Identifiable&lt;ID&gt;, Repository&lt;T, ID&gt;, and abstract domain models (User, Equipment).</a:t>
            </a:r>
          </a:p>
          <a:p>
            <a:pPr>
              <a:spcBef>
                <a:spcPts val="800"/>
              </a:spcBef>
              <a:defRPr b="1" sz="1100">
                <a:solidFill>
                  <a:srgbClr val="0F172A"/>
                </a:solidFill>
              </a:defRPr>
            </a:pPr>
            <a:r>
              <a:t>• Encapsulation:</a:t>
            </a:r>
          </a:p>
          <a:p>
            <a:pPr>
              <a:defRPr sz="1000">
                <a:solidFill>
                  <a:srgbClr val="64748B"/>
                </a:solidFill>
              </a:defRPr>
            </a:pPr>
            <a:r>
              <a:t>   All fields declared private; strict invariants validated in mutators; internal collections wrapped in Collections.unmodifiableList().</a:t>
            </a:r>
          </a:p>
          <a:p>
            <a:pPr>
              <a:spcBef>
                <a:spcPts val="800"/>
              </a:spcBef>
              <a:defRPr b="1" sz="1100">
                <a:solidFill>
                  <a:srgbClr val="0F172A"/>
                </a:solidFill>
              </a:defRPr>
            </a:pPr>
            <a:r>
              <a:t>• Inheritance:</a:t>
            </a:r>
          </a:p>
          <a:p>
            <a:pPr>
              <a:defRPr sz="1000">
                <a:solidFill>
                  <a:srgbClr val="64748B"/>
                </a:solidFill>
              </a:defRPr>
            </a:pPr>
            <a:r>
              <a:t>   Structured domain taxonomies: Admin, Instructor, Member inherit User; Treadmill, SpinBike, RowingMachine inherit Equipment.</a:t>
            </a:r>
          </a:p>
          <a:p>
            <a:pPr>
              <a:spcBef>
                <a:spcPts val="800"/>
              </a:spcBef>
              <a:defRPr b="1" sz="1100">
                <a:solidFill>
                  <a:srgbClr val="0F172A"/>
                </a:solidFill>
              </a:defRPr>
            </a:pPr>
            <a:r>
              <a:t>• Reusability:</a:t>
            </a:r>
          </a:p>
          <a:p>
            <a:pPr>
              <a:defRPr sz="1000">
                <a:solidFill>
                  <a:srgbClr val="64748B"/>
                </a:solidFill>
              </a:defRPr>
            </a:pPr>
            <a:r>
              <a:t>   Generic repository logic and validation strategies reused across diverse entity types without code duplication.</a:t>
            </a:r>
          </a:p>
        </p:txBody>
      </p:sp>
      <p:sp>
        <p:nvSpPr>
          <p:cNvPr id="7" name="Rounded Rectangle 6"/>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defRPr sz="1300" b="1">
                <a:solidFill>
                  <a:srgbClr val="10B981"/>
                </a:solidFill>
              </a:defRPr>
            </a:pPr>
            <a:r>
              <a:t>RUNTIME POLYMORPHISM IN ACTION</a:t>
            </a:r>
          </a:p>
          <a:p>
            <a:pPr>
              <a:spcBef>
                <a:spcPts val="600"/>
              </a:spcBef>
              <a:defRPr b="1" sz="1100">
                <a:solidFill>
                  <a:srgbClr val="0F172A"/>
                </a:solidFill>
              </a:defRPr>
            </a:pPr>
            <a:r>
              <a:t>• Polymorphic Dynamic Dispatch:</a:t>
            </a:r>
          </a:p>
          <a:p>
            <a:pPr>
              <a:defRPr sz="1000">
                <a:solidFill>
                  <a:srgbClr val="64748B"/>
                </a:solidFill>
              </a:defRPr>
            </a:pPr>
            <a:r>
              <a:t>   Client services invoke eq.calculateWearIndex() without knowing concrete equipment subtype. Dispatches at runtime via vtable.</a:t>
            </a:r>
          </a:p>
          <a:p>
            <a:pPr>
              <a:spcBef>
                <a:spcPts val="600"/>
              </a:spcBef>
              <a:defRPr b="1" sz="1100">
                <a:solidFill>
                  <a:srgbClr val="0F172A"/>
                </a:solidFill>
              </a:defRPr>
            </a:pPr>
            <a:r>
              <a:t>• Base Wear Formulation:</a:t>
            </a:r>
          </a:p>
          <a:p>
            <a:pPr>
              <a:defRPr sz="1000">
                <a:solidFill>
                  <a:srgbClr val="64748B"/>
                </a:solidFill>
              </a:defRPr>
            </a:pPr>
            <a:r>
              <a:t>   BaseWear = CumulativeUsageHours / MaintenanceThresholdHours</a:t>
            </a:r>
          </a:p>
          <a:p>
            <a:pPr>
              <a:spcBef>
                <a:spcPts val="600"/>
              </a:spcBef>
              <a:defRPr b="1" sz="1100">
                <a:solidFill>
                  <a:srgbClr val="0F172A"/>
                </a:solidFill>
              </a:defRPr>
            </a:pPr>
            <a:r>
              <a:t>• Treadmill Strain Multiplier:</a:t>
            </a:r>
          </a:p>
          <a:p>
            <a:pPr>
              <a:defRPr sz="1000">
                <a:solidFill>
                  <a:srgbClr val="64748B"/>
                </a:solidFill>
              </a:defRPr>
            </a:pPr>
            <a:r>
              <a:t>   Wear = BaseWear * 1.15 (motor incline &amp; deck friction wear)</a:t>
            </a:r>
          </a:p>
          <a:p>
            <a:pPr>
              <a:spcBef>
                <a:spcPts val="600"/>
              </a:spcBef>
              <a:defRPr b="1" sz="1100">
                <a:solidFill>
                  <a:srgbClr val="0F172A"/>
                </a:solidFill>
              </a:defRPr>
            </a:pPr>
            <a:r>
              <a:t>• Spin Bike Strain Multiplier:</a:t>
            </a:r>
          </a:p>
          <a:p>
            <a:pPr>
              <a:defRPr sz="1000">
                <a:solidFill>
                  <a:srgbClr val="64748B"/>
                </a:solidFill>
              </a:defRPr>
            </a:pPr>
            <a:r>
              <a:t>   Wear = BaseWear * 1.05 (flywheel magnetic cadence stress)</a:t>
            </a:r>
          </a:p>
          <a:p>
            <a:pPr>
              <a:spcBef>
                <a:spcPts val="600"/>
              </a:spcBef>
              <a:defRPr b="1" sz="1100">
                <a:solidFill>
                  <a:srgbClr val="0F172A"/>
                </a:solidFill>
              </a:defRPr>
            </a:pPr>
            <a:r>
              <a:t>• Rowing Machine Multiplier:</a:t>
            </a:r>
          </a:p>
          <a:p>
            <a:pPr>
              <a:defRPr sz="1000">
                <a:solidFill>
                  <a:srgbClr val="64748B"/>
                </a:solidFill>
              </a:defRPr>
            </a:pPr>
            <a:r>
              <a:t>   Wear = BaseWear * 1.10 (drive chain damper tension)</a:t>
            </a:r>
          </a:p>
          <a:p>
            <a:pPr>
              <a:spcBef>
                <a:spcPts val="600"/>
              </a:spcBef>
              <a:defRPr b="1" sz="1100">
                <a:solidFill>
                  <a:srgbClr val="0F172A"/>
                </a:solidFill>
              </a:defRPr>
            </a:pPr>
            <a:r>
              <a:t>• Open/Closed Principle (OCP):</a:t>
            </a:r>
          </a:p>
          <a:p>
            <a:pPr>
              <a:defRPr sz="1000">
                <a:solidFill>
                  <a:srgbClr val="64748B"/>
                </a:solidFill>
              </a:defRPr>
            </a:pPr>
            <a:r>
              <a:t>   Adding new machine types (e.g. Elliptical) requires zero modifications to existing reporting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DESIGN PATTERN IMPLEMENTATION (GOF)</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Creational Design Patterns: Factory &amp; Builder</a:t>
            </a:r>
          </a:p>
        </p:txBody>
      </p:sp>
      <p:sp>
        <p:nvSpPr>
          <p:cNvPr id="5" name="Rounded Rectangle 4"/>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defRPr sz="1300" b="1">
                <a:solidFill>
                  <a:srgbClr val="2563EB"/>
                </a:solidFill>
              </a:defRPr>
            </a:pPr>
            <a:r>
              <a:t>1. FACTORY METHOD PATTERN (EquipmentFactory)</a:t>
            </a:r>
          </a:p>
          <a:p>
            <a:pPr>
              <a:spcBef>
                <a:spcPts val="800"/>
              </a:spcBef>
              <a:defRPr b="1" sz="1100">
                <a:solidFill>
                  <a:srgbClr val="0F172A"/>
                </a:solidFill>
              </a:defRPr>
            </a:pPr>
            <a:r>
              <a:t>• Problem Solved:</a:t>
            </a:r>
          </a:p>
          <a:p>
            <a:pPr>
              <a:defRPr sz="1000">
                <a:solidFill>
                  <a:srgbClr val="64748B"/>
                </a:solidFill>
              </a:defRPr>
            </a:pPr>
            <a:r>
              <a:t>   Direct 'new' instantiation couples high-level controllers to concrete machinery classes and leaks threshold configuration.</a:t>
            </a:r>
          </a:p>
          <a:p>
            <a:pPr>
              <a:spcBef>
                <a:spcPts val="800"/>
              </a:spcBef>
              <a:defRPr b="1" sz="1100">
                <a:solidFill>
                  <a:srgbClr val="0F172A"/>
                </a:solidFill>
              </a:defRPr>
            </a:pPr>
            <a:r>
              <a:t>• Implementation:</a:t>
            </a:r>
          </a:p>
          <a:p>
            <a:pPr>
              <a:defRPr sz="1000">
                <a:solidFill>
                  <a:srgbClr val="64748B"/>
                </a:solidFill>
              </a:defRPr>
            </a:pPr>
            <a:r>
              <a:t>   EquipmentFactory.createEquipment(type, id, name, location) encapsulates instantiation logic.</a:t>
            </a:r>
          </a:p>
          <a:p>
            <a:pPr>
              <a:spcBef>
                <a:spcPts val="800"/>
              </a:spcBef>
              <a:defRPr b="1" sz="1100">
                <a:solidFill>
                  <a:srgbClr val="0F172A"/>
                </a:solidFill>
              </a:defRPr>
            </a:pPr>
            <a:r>
              <a:t>• Domain Calibration:</a:t>
            </a:r>
          </a:p>
          <a:p>
            <a:pPr>
              <a:defRPr sz="1000">
                <a:solidFill>
                  <a:srgbClr val="64748B"/>
                </a:solidFill>
              </a:defRPr>
            </a:pPr>
            <a:r>
              <a:t>   Attaches domain defaults: Treadmills (200h, 15% incline), Spin Bikes (150h, magnetic resistance), Rowers (180h, damper setting 5).</a:t>
            </a:r>
          </a:p>
          <a:p>
            <a:pPr>
              <a:spcBef>
                <a:spcPts val="800"/>
              </a:spcBef>
              <a:defRPr b="1" sz="1100">
                <a:solidFill>
                  <a:srgbClr val="0F172A"/>
                </a:solidFill>
              </a:defRPr>
            </a:pPr>
            <a:r>
              <a:t>• Architectural Benefit:</a:t>
            </a:r>
          </a:p>
          <a:p>
            <a:pPr>
              <a:defRPr sz="1000">
                <a:solidFill>
                  <a:srgbClr val="64748B"/>
                </a:solidFill>
              </a:defRPr>
            </a:pPr>
            <a:r>
              <a:t>   High-level inventory services depend strictly on the Equipment abstract contract rather than concrete implementations.</a:t>
            </a:r>
          </a:p>
        </p:txBody>
      </p:sp>
      <p:sp>
        <p:nvSpPr>
          <p:cNvPr id="7" name="Rounded Rectangle 6"/>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defRPr sz="1300" b="1">
                <a:solidFill>
                  <a:srgbClr val="06B6D4"/>
                </a:solidFill>
              </a:defRPr>
            </a:pPr>
            <a:r>
              <a:t>2. FLUENT BUILDER PATTERN (SessionBuilder)</a:t>
            </a:r>
          </a:p>
          <a:p>
            <a:pPr>
              <a:spcBef>
                <a:spcPts val="800"/>
              </a:spcBef>
              <a:defRPr b="1" sz="1100">
                <a:solidFill>
                  <a:srgbClr val="0F172A"/>
                </a:solidFill>
              </a:defRPr>
            </a:pPr>
            <a:r>
              <a:t>• Problem Solved:</a:t>
            </a:r>
          </a:p>
          <a:p>
            <a:pPr>
              <a:defRPr sz="1000">
                <a:solidFill>
                  <a:srgbClr val="64748B"/>
                </a:solidFill>
              </a:defRPr>
            </a:pPr>
            <a:r>
              <a:t>   FitnessSession requires 11 distinct attributes. Telescoping constructors cause confusion and argument transposition errors.</a:t>
            </a:r>
          </a:p>
          <a:p>
            <a:pPr>
              <a:spcBef>
                <a:spcPts val="800"/>
              </a:spcBef>
              <a:defRPr b="1" sz="1100">
                <a:solidFill>
                  <a:srgbClr val="0F172A"/>
                </a:solidFill>
              </a:defRPr>
            </a:pPr>
            <a:r>
              <a:t>• Fluent Method Chaining:</a:t>
            </a:r>
          </a:p>
          <a:p>
            <a:pPr>
              <a:defRPr sz="1000">
                <a:solidFill>
                  <a:srgbClr val="64748B"/>
                </a:solidFill>
              </a:defRPr>
            </a:pPr>
            <a:r>
              <a:t>   withTimes(start, end).withMaxCapacity(15).withRequiredEquipment(list).asRecurring(day).build()</a:t>
            </a:r>
          </a:p>
          <a:p>
            <a:pPr>
              <a:spcBef>
                <a:spcPts val="800"/>
              </a:spcBef>
              <a:defRPr b="1" sz="1100">
                <a:solidFill>
                  <a:srgbClr val="0F172A"/>
                </a:solidFill>
              </a:defRPr>
            </a:pPr>
            <a:r>
              <a:t>• Validation Invariants:</a:t>
            </a:r>
          </a:p>
          <a:p>
            <a:pPr>
              <a:defRPr sz="1000">
                <a:solidFill>
                  <a:srgbClr val="64748B"/>
                </a:solidFill>
              </a:defRPr>
            </a:pPr>
            <a:r>
              <a:t>   Enforces end time &gt; start time, positive capacity, and non-empty IDs before returning constructed instance.</a:t>
            </a:r>
          </a:p>
          <a:p>
            <a:pPr>
              <a:spcBef>
                <a:spcPts val="800"/>
              </a:spcBef>
              <a:defRPr b="1" sz="1100">
                <a:solidFill>
                  <a:srgbClr val="0F172A"/>
                </a:solidFill>
              </a:defRPr>
            </a:pPr>
            <a:r>
              <a:t>• Architectural Benefit:</a:t>
            </a:r>
          </a:p>
          <a:p>
            <a:pPr>
              <a:defRPr sz="1000">
                <a:solidFill>
                  <a:srgbClr val="64748B"/>
                </a:solidFill>
              </a:defRPr>
            </a:pPr>
            <a:r>
              <a:t>   Separates complex object construction from its representation, improving readability and maintainability.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DESIGN PATTERN IMPLEMENTATION (GOF)</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Structural &amp; Behavioural Patterns: Facade, Observer, Strategy</a:t>
            </a:r>
          </a:p>
        </p:txBody>
      </p:sp>
      <p:sp>
        <p:nvSpPr>
          <p:cNvPr id="5" name="Rounded Rectangle 4"/>
          <p:cNvSpPr/>
          <p:nvPr/>
        </p:nvSpPr>
        <p:spPr>
          <a:xfrm>
            <a:off x="731520"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28416" cy="10972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2962656" cy="4114800"/>
          </a:xfrm>
          <a:prstGeom prst="rect">
            <a:avLst/>
          </a:prstGeom>
          <a:noFill/>
        </p:spPr>
        <p:txBody>
          <a:bodyPr wrap="square">
            <a:spAutoFit/>
          </a:bodyPr>
          <a:lstStyle/>
          <a:p>
            <a:pPr>
              <a:defRPr sz="1300" b="1">
                <a:solidFill>
                  <a:srgbClr val="0F172A"/>
                </a:solidFill>
              </a:defRPr>
            </a:pPr>
            <a:r>
              <a:t>Facade Pattern (Structural)</a:t>
            </a:r>
          </a:p>
          <a:p>
            <a:pPr>
              <a:spcBef>
                <a:spcPts val="800"/>
              </a:spcBef>
              <a:defRPr sz="1100">
                <a:solidFill>
                  <a:srgbClr val="64748B"/>
                </a:solidFill>
              </a:defRPr>
            </a:pPr>
            <a:r>
              <a:t>• Class: IWFCSystemFacade</a:t>
            </a:r>
          </a:p>
          <a:p>
            <a:pPr>
              <a:spcBef>
                <a:spcPts val="800"/>
              </a:spcBef>
              <a:defRPr sz="1100">
                <a:solidFill>
                  <a:srgbClr val="64748B"/>
                </a:solidFill>
              </a:defRPr>
            </a:pPr>
            <a:r>
              <a:t>• Role: High-level unified entry point orchestrating 4 services.</a:t>
            </a:r>
          </a:p>
          <a:p>
            <a:pPr>
              <a:spcBef>
                <a:spcPts val="800"/>
              </a:spcBef>
              <a:defRPr sz="1100">
                <a:solidFill>
                  <a:srgbClr val="64748B"/>
                </a:solidFill>
              </a:defRPr>
            </a:pPr>
            <a:r>
              <a:t>• Security: Enforces Role-Based Access Control on every call.</a:t>
            </a:r>
          </a:p>
          <a:p>
            <a:pPr>
              <a:spcBef>
                <a:spcPts val="800"/>
              </a:spcBef>
              <a:defRPr sz="1100">
                <a:solidFill>
                  <a:srgbClr val="64748B"/>
                </a:solidFill>
              </a:defRPr>
            </a:pPr>
            <a:r>
              <a:t>• Encapsulation: Shields CLI and DemoBot from repository and service dependencies.</a:t>
            </a:r>
          </a:p>
        </p:txBody>
      </p:sp>
      <p:sp>
        <p:nvSpPr>
          <p:cNvPr id="8" name="Rounded Rectangle 7"/>
          <p:cNvSpPr/>
          <p:nvPr/>
        </p:nvSpPr>
        <p:spPr>
          <a:xfrm>
            <a:off x="4416552"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6552" y="1645920"/>
            <a:ext cx="3328416" cy="10972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74520"/>
            <a:ext cx="2962656" cy="4114800"/>
          </a:xfrm>
          <a:prstGeom prst="rect">
            <a:avLst/>
          </a:prstGeom>
          <a:noFill/>
        </p:spPr>
        <p:txBody>
          <a:bodyPr wrap="square">
            <a:spAutoFit/>
          </a:bodyPr>
          <a:lstStyle/>
          <a:p>
            <a:pPr>
              <a:defRPr sz="1300" b="1">
                <a:solidFill>
                  <a:srgbClr val="0F172A"/>
                </a:solidFill>
              </a:defRPr>
            </a:pPr>
            <a:r>
              <a:t>Observer Pattern (Behavioural)</a:t>
            </a:r>
          </a:p>
          <a:p>
            <a:pPr>
              <a:spcBef>
                <a:spcPts val="800"/>
              </a:spcBef>
              <a:defRPr sz="1100">
                <a:solidFill>
                  <a:srgbClr val="64748B"/>
                </a:solidFill>
              </a:defRPr>
            </a:pPr>
            <a:r>
              <a:t>• Classes: NotificationSubject, NotificationObserver</a:t>
            </a:r>
          </a:p>
          <a:p>
            <a:pPr>
              <a:spcBef>
                <a:spcPts val="800"/>
              </a:spcBef>
              <a:defRPr sz="1100">
                <a:solidFill>
                  <a:srgbClr val="64748B"/>
                </a:solidFill>
              </a:defRPr>
            </a:pPr>
            <a:r>
              <a:t>• Role: Asynchronous publish/subscribe event broadcasting.</a:t>
            </a:r>
          </a:p>
          <a:p>
            <a:pPr>
              <a:spcBef>
                <a:spcPts val="800"/>
              </a:spcBef>
              <a:defRPr sz="1100">
                <a:solidFill>
                  <a:srgbClr val="64748B"/>
                </a:solidFill>
              </a:defRPr>
            </a:pPr>
            <a:r>
              <a:t>• Triggers: Preventative maintenance threshold exceeded (&gt;= 200h).</a:t>
            </a:r>
          </a:p>
          <a:p>
            <a:pPr>
              <a:spcBef>
                <a:spcPts val="800"/>
              </a:spcBef>
              <a:defRPr sz="1100">
                <a:solidFill>
                  <a:srgbClr val="64748B"/>
                </a:solidFill>
              </a:defRPr>
            </a:pPr>
            <a:r>
              <a:t>• Workflow: Notifies admins and staff on ticket status transitions.</a:t>
            </a:r>
          </a:p>
        </p:txBody>
      </p:sp>
      <p:sp>
        <p:nvSpPr>
          <p:cNvPr id="11" name="Rounded Rectangle 10"/>
          <p:cNvSpPr/>
          <p:nvPr/>
        </p:nvSpPr>
        <p:spPr>
          <a:xfrm>
            <a:off x="8101584"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01584" y="1645920"/>
            <a:ext cx="3328416"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874520"/>
            <a:ext cx="2962656" cy="4114800"/>
          </a:xfrm>
          <a:prstGeom prst="rect">
            <a:avLst/>
          </a:prstGeom>
          <a:noFill/>
        </p:spPr>
        <p:txBody>
          <a:bodyPr wrap="square">
            <a:spAutoFit/>
          </a:bodyPr>
          <a:lstStyle/>
          <a:p>
            <a:pPr>
              <a:defRPr sz="1300" b="1">
                <a:solidFill>
                  <a:srgbClr val="0F172A"/>
                </a:solidFill>
              </a:defRPr>
            </a:pPr>
            <a:r>
              <a:t>Strategy Pattern (Behavioural)</a:t>
            </a:r>
          </a:p>
          <a:p>
            <a:pPr>
              <a:spcBef>
                <a:spcPts val="800"/>
              </a:spcBef>
              <a:defRPr sz="1100">
                <a:solidFill>
                  <a:srgbClr val="64748B"/>
                </a:solidFill>
              </a:defRPr>
            </a:pPr>
            <a:r>
              <a:t>• Contract: BookingValidationStrategy</a:t>
            </a:r>
          </a:p>
          <a:p>
            <a:pPr>
              <a:spcBef>
                <a:spcPts val="800"/>
              </a:spcBef>
              <a:defRPr sz="1100">
                <a:solidFill>
                  <a:srgbClr val="64748B"/>
                </a:solidFill>
              </a:defRPr>
            </a:pPr>
            <a:r>
              <a:t>• OperatingHoursStrategy: Strictly enforces 06:00 to 22:00 facility boundaries.</a:t>
            </a:r>
          </a:p>
          <a:p>
            <a:pPr>
              <a:spcBef>
                <a:spcPts val="800"/>
              </a:spcBef>
              <a:defRPr sz="1100">
                <a:solidFill>
                  <a:srgbClr val="64748B"/>
                </a:solidFill>
              </a:defRPr>
            </a:pPr>
            <a:r>
              <a:t>• ResourceConflictStrategy: Prevents studio room double-bookings and equipment clashes.</a:t>
            </a:r>
          </a:p>
          <a:p>
            <a:pPr>
              <a:spcBef>
                <a:spcPts val="800"/>
              </a:spcBef>
              <a:defRPr sz="1100">
                <a:solidFill>
                  <a:srgbClr val="64748B"/>
                </a:solidFill>
              </a:defRPr>
            </a:pPr>
            <a:r>
              <a:t>• Extensible: Open for peak-pricing strategies without touching core engine.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LO3 ROBUSTNESS &amp; DEFENSIVE ENGINEERING</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Secure Software Construction &amp; Custom Exceptions</a:t>
            </a:r>
          </a:p>
        </p:txBody>
      </p:sp>
      <p:sp>
        <p:nvSpPr>
          <p:cNvPr id="5" name="Rounded Rectangle 4"/>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defRPr sz="1300" b="1">
                <a:solidFill>
                  <a:srgbClr val="2563EB"/>
                </a:solidFill>
              </a:defRPr>
            </a:pPr>
            <a:r>
              <a:t>CUSTOM CHECKED EXCEPTION TAXONOMY</a:t>
            </a:r>
          </a:p>
          <a:p>
            <a:pPr>
              <a:spcBef>
                <a:spcPts val="600"/>
              </a:spcBef>
              <a:defRPr b="1" sz="1100">
                <a:solidFill>
                  <a:srgbClr val="0F172A"/>
                </a:solidFill>
              </a:defRPr>
            </a:pPr>
            <a:r>
              <a:t>• IWFCException (Base Checked):</a:t>
            </a:r>
          </a:p>
          <a:p>
            <a:pPr>
              <a:defRPr sz="1000">
                <a:solidFill>
                  <a:srgbClr val="64748B"/>
                </a:solidFill>
              </a:defRPr>
            </a:pPr>
            <a:r>
              <a:t>   Root of all domain errors. Checked nature forces compile-time handling.</a:t>
            </a:r>
          </a:p>
          <a:p>
            <a:pPr>
              <a:spcBef>
                <a:spcPts val="600"/>
              </a:spcBef>
              <a:defRPr b="1" sz="1100">
                <a:solidFill>
                  <a:srgbClr val="0F172A"/>
                </a:solidFill>
              </a:defRPr>
            </a:pPr>
            <a:r>
              <a:t>• InvalidBookingException:</a:t>
            </a:r>
          </a:p>
          <a:p>
            <a:pPr>
              <a:defRPr sz="1000">
                <a:solidFill>
                  <a:srgbClr val="64748B"/>
                </a:solidFill>
              </a:defRPr>
            </a:pPr>
            <a:r>
              <a:t>   Thrown on studio collisions, equipment clashes, bookings outside 06:00-22:00, or capacity limits.</a:t>
            </a:r>
          </a:p>
          <a:p>
            <a:pPr>
              <a:spcBef>
                <a:spcPts val="600"/>
              </a:spcBef>
              <a:defRPr b="1" sz="1100">
                <a:solidFill>
                  <a:srgbClr val="0F172A"/>
                </a:solidFill>
              </a:defRPr>
            </a:pPr>
            <a:r>
              <a:t>• UnauthorizedAccessException:</a:t>
            </a:r>
          </a:p>
          <a:p>
            <a:pPr>
              <a:defRPr sz="1000">
                <a:solidFill>
                  <a:srgbClr val="64748B"/>
                </a:solidFill>
              </a:defRPr>
            </a:pPr>
            <a:r>
              <a:t>   Thrown on RBAC security breaches (e.g. Member attempting to view Admin global maintenance logs).</a:t>
            </a:r>
          </a:p>
          <a:p>
            <a:pPr>
              <a:spcBef>
                <a:spcPts val="600"/>
              </a:spcBef>
              <a:defRPr b="1" sz="1100">
                <a:solidFill>
                  <a:srgbClr val="0F172A"/>
                </a:solidFill>
              </a:defRPr>
            </a:pPr>
            <a:r>
              <a:t>• DuplicateDataException:</a:t>
            </a:r>
          </a:p>
          <a:p>
            <a:pPr>
              <a:defRPr sz="1000">
                <a:solidFill>
                  <a:srgbClr val="64748B"/>
                </a:solidFill>
              </a:defRPr>
            </a:pPr>
            <a:r>
              <a:t>   Thrown on primary key collisions (e.g. attempting to register equipment with existing ID 'TM-01').</a:t>
            </a:r>
          </a:p>
          <a:p>
            <a:pPr>
              <a:spcBef>
                <a:spcPts val="600"/>
              </a:spcBef>
              <a:defRPr b="1" sz="1100">
                <a:solidFill>
                  <a:srgbClr val="0F172A"/>
                </a:solidFill>
              </a:defRPr>
            </a:pPr>
            <a:r>
              <a:t>• EntityNotFoundException:</a:t>
            </a:r>
          </a:p>
          <a:p>
            <a:pPr>
              <a:defRPr sz="1000">
                <a:solidFill>
                  <a:srgbClr val="64748B"/>
                </a:solidFill>
              </a:defRPr>
            </a:pPr>
            <a:r>
              <a:t>   Thrown on unknown user, session, equipment, or maintenance ticket queries.</a:t>
            </a:r>
          </a:p>
        </p:txBody>
      </p:sp>
      <p:sp>
        <p:nvSpPr>
          <p:cNvPr id="7" name="Rounded Rectangle 6"/>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defRPr sz="1300" b="1">
                <a:solidFill>
                  <a:srgbClr val="DC2626"/>
                </a:solidFill>
              </a:defRPr>
            </a:pPr>
            <a:r>
              <a:t>DEFENSIVE PROGRAMMING &amp; SECURITY RULES</a:t>
            </a:r>
          </a:p>
          <a:p>
            <a:pPr>
              <a:spcBef>
                <a:spcPts val="800"/>
              </a:spcBef>
              <a:defRPr b="1" sz="1100">
                <a:solidFill>
                  <a:srgbClr val="0F172A"/>
                </a:solidFill>
              </a:defRPr>
            </a:pPr>
            <a:r>
              <a:t>• Principle of Least Privilege:</a:t>
            </a:r>
          </a:p>
          <a:p>
            <a:pPr>
              <a:defRPr sz="1000">
                <a:solidFill>
                  <a:srgbClr val="64748B"/>
                </a:solidFill>
              </a:defRPr>
            </a:pPr>
            <a:r>
              <a:t>   Saltzer &amp; Schroeder (1975). Users operate strictly within role permissions (Admin, Instructor, Member).</a:t>
            </a:r>
          </a:p>
          <a:p>
            <a:pPr>
              <a:spcBef>
                <a:spcPts val="800"/>
              </a:spcBef>
              <a:defRPr b="1" sz="1100">
                <a:solidFill>
                  <a:srgbClr val="0F172A"/>
                </a:solidFill>
              </a:defRPr>
            </a:pPr>
            <a:r>
              <a:t>• Design by Contract (Meyer 1997):</a:t>
            </a:r>
          </a:p>
          <a:p>
            <a:pPr>
              <a:defRPr sz="1000">
                <a:solidFill>
                  <a:srgbClr val="64748B"/>
                </a:solidFill>
              </a:defRPr>
            </a:pPr>
            <a:r>
              <a:t>   Systematic precondition validation in mutators and constructors prevents corrupt internal states.</a:t>
            </a:r>
          </a:p>
          <a:p>
            <a:pPr>
              <a:spcBef>
                <a:spcPts val="800"/>
              </a:spcBef>
              <a:defRPr b="1" sz="1100">
                <a:solidFill>
                  <a:srgbClr val="0F172A"/>
                </a:solidFill>
              </a:defRPr>
            </a:pPr>
            <a:r>
              <a:t>• Compile-Time Type Safety:</a:t>
            </a:r>
          </a:p>
          <a:p>
            <a:pPr>
              <a:defRPr sz="1000">
                <a:solidFill>
                  <a:srgbClr val="64748B"/>
                </a:solidFill>
              </a:defRPr>
            </a:pPr>
            <a:r>
              <a:t>   Eliminates unchecked casts and runtime ClassCastExceptions via bounded Generics.</a:t>
            </a:r>
          </a:p>
          <a:p>
            <a:pPr>
              <a:spcBef>
                <a:spcPts val="800"/>
              </a:spcBef>
              <a:defRPr b="1" sz="1100">
                <a:solidFill>
                  <a:srgbClr val="0F172A"/>
                </a:solidFill>
              </a:defRPr>
            </a:pPr>
            <a:r>
              <a:t>• Graceful Error Recovery:</a:t>
            </a:r>
          </a:p>
          <a:p>
            <a:pPr>
              <a:defRPr sz="1000">
                <a:solidFill>
                  <a:srgbClr val="64748B"/>
                </a:solidFill>
              </a:defRPr>
            </a:pPr>
            <a:r>
              <a:t>   All exceptions caught by ConsoleMenu; informative diagnostic feedback rendered without crashing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END-TO-END SYSTEM DEMONSTRATION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Live Prototype Walkthrough &amp; Simulation Bot</a:t>
            </a:r>
          </a:p>
        </p:txBody>
      </p:sp>
      <p:sp>
        <p:nvSpPr>
          <p:cNvPr id="5" name="Rounded Rectangle 4"/>
          <p:cNvSpPr/>
          <p:nvPr/>
        </p:nvSpPr>
        <p:spPr>
          <a:xfrm>
            <a:off x="731520"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28416" cy="10972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2962656" cy="4114800"/>
          </a:xfrm>
          <a:prstGeom prst="rect">
            <a:avLst/>
          </a:prstGeom>
          <a:noFill/>
        </p:spPr>
        <p:txBody>
          <a:bodyPr wrap="square">
            <a:spAutoFit/>
          </a:bodyPr>
          <a:lstStyle/>
          <a:p>
            <a:pPr>
              <a:defRPr sz="1300" b="1">
                <a:solidFill>
                  <a:srgbClr val="0F172A"/>
                </a:solidFill>
              </a:defRPr>
            </a:pPr>
            <a:r>
              <a:t>1. Member Walkthrough</a:t>
            </a:r>
          </a:p>
          <a:p>
            <a:pPr>
              <a:spcBef>
                <a:spcPts val="800"/>
              </a:spcBef>
              <a:defRPr sz="1100">
                <a:solidFill>
                  <a:srgbClr val="64748B"/>
                </a:solidFill>
              </a:defRPr>
            </a:pPr>
            <a:r>
              <a:t>• Login as David Miller (MEM-01).</a:t>
            </a:r>
          </a:p>
          <a:p>
            <a:pPr>
              <a:spcBef>
                <a:spcPts val="800"/>
              </a:spcBef>
              <a:defRPr sz="1100">
                <a:solidFill>
                  <a:srgbClr val="64748B"/>
                </a:solidFill>
              </a:defRPr>
            </a:pPr>
            <a:r>
              <a:t>• Browse fitness classes &amp; slot availability.</a:t>
            </a:r>
          </a:p>
          <a:p>
            <a:pPr>
              <a:spcBef>
                <a:spcPts val="800"/>
              </a:spcBef>
              <a:defRPr sz="1100">
                <a:solidFill>
                  <a:srgbClr val="64748B"/>
                </a:solidFill>
              </a:defRPr>
            </a:pPr>
            <a:r>
              <a:t>• Attempt Admin Log Access -&gt; Catches UnauthorizedAccessException.</a:t>
            </a:r>
          </a:p>
          <a:p>
            <a:pPr>
              <a:spcBef>
                <a:spcPts val="800"/>
              </a:spcBef>
              <a:defRPr sz="1100">
                <a:solidFill>
                  <a:srgbClr val="64748B"/>
                </a:solidFill>
              </a:defRPr>
            </a:pPr>
            <a:r>
              <a:t>• Book valid session SES-03.</a:t>
            </a:r>
          </a:p>
          <a:p>
            <a:pPr>
              <a:spcBef>
                <a:spcPts val="800"/>
              </a:spcBef>
              <a:defRPr sz="1100">
                <a:solidFill>
                  <a:srgbClr val="64748B"/>
                </a:solidFill>
              </a:defRPr>
            </a:pPr>
            <a:r>
              <a:t>• Attempt duplicate booking -&gt; Catches InvalidBookingException.</a:t>
            </a:r>
          </a:p>
          <a:p>
            <a:pPr>
              <a:spcBef>
                <a:spcPts val="800"/>
              </a:spcBef>
              <a:defRPr sz="1100">
                <a:solidFill>
                  <a:srgbClr val="64748B"/>
                </a:solidFill>
              </a:defRPr>
            </a:pPr>
            <a:r>
              <a:t>• View confirmed bookings &amp; cancel booking.</a:t>
            </a:r>
          </a:p>
        </p:txBody>
      </p:sp>
      <p:sp>
        <p:nvSpPr>
          <p:cNvPr id="8" name="Rounded Rectangle 7"/>
          <p:cNvSpPr/>
          <p:nvPr/>
        </p:nvSpPr>
        <p:spPr>
          <a:xfrm>
            <a:off x="4416552"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6552" y="1645920"/>
            <a:ext cx="3328416" cy="10972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74520"/>
            <a:ext cx="2962656" cy="4114800"/>
          </a:xfrm>
          <a:prstGeom prst="rect">
            <a:avLst/>
          </a:prstGeom>
          <a:noFill/>
        </p:spPr>
        <p:txBody>
          <a:bodyPr wrap="square">
            <a:spAutoFit/>
          </a:bodyPr>
          <a:lstStyle/>
          <a:p>
            <a:pPr>
              <a:defRPr sz="1300" b="1">
                <a:solidFill>
                  <a:srgbClr val="0F172A"/>
                </a:solidFill>
              </a:defRPr>
            </a:pPr>
            <a:r>
              <a:t>2. Instructor Walkthrough</a:t>
            </a:r>
          </a:p>
          <a:p>
            <a:pPr>
              <a:spcBef>
                <a:spcPts val="800"/>
              </a:spcBef>
              <a:defRPr sz="1100">
                <a:solidFill>
                  <a:srgbClr val="64748B"/>
                </a:solidFill>
              </a:defRPr>
            </a:pPr>
            <a:r>
              <a:t>• Login as Alex Rivera (INS-01).</a:t>
            </a:r>
          </a:p>
          <a:p>
            <a:pPr>
              <a:spcBef>
                <a:spcPts val="800"/>
              </a:spcBef>
              <a:defRPr sz="1100">
                <a:solidFill>
                  <a:srgbClr val="64748B"/>
                </a:solidFill>
              </a:defRPr>
            </a:pPr>
            <a:r>
              <a:t>• Schedule class via Builder ('Boxing Circuit').</a:t>
            </a:r>
          </a:p>
          <a:p>
            <a:pPr>
              <a:spcBef>
                <a:spcPts val="800"/>
              </a:spcBef>
              <a:defRPr sz="1100">
                <a:solidFill>
                  <a:srgbClr val="64748B"/>
                </a:solidFill>
              </a:defRPr>
            </a:pPr>
            <a:r>
              <a:t>• Attempt out-of-hours booking (22:30) -&gt; Rejected by Strategy.</a:t>
            </a:r>
          </a:p>
          <a:p>
            <a:pPr>
              <a:spcBef>
                <a:spcPts val="800"/>
              </a:spcBef>
              <a:defRPr sz="1100">
                <a:solidFill>
                  <a:srgbClr val="64748B"/>
                </a:solidFill>
              </a:defRPr>
            </a:pPr>
            <a:r>
              <a:t>• Attempt Studio B collision -&gt; Rejected by Strategy.</a:t>
            </a:r>
          </a:p>
          <a:p>
            <a:pPr>
              <a:spcBef>
                <a:spcPts val="800"/>
              </a:spcBef>
              <a:defRPr sz="1100">
                <a:solidFill>
                  <a:srgbClr val="64748B"/>
                </a:solidFill>
              </a:defRPr>
            </a:pPr>
            <a:r>
              <a:t>• Schedule 4-week recurring class series.</a:t>
            </a:r>
          </a:p>
          <a:p>
            <a:pPr>
              <a:spcBef>
                <a:spcPts val="800"/>
              </a:spcBef>
              <a:defRPr sz="1100">
                <a:solidFill>
                  <a:srgbClr val="64748B"/>
                </a:solidFill>
              </a:defRPr>
            </a:pPr>
            <a:r>
              <a:t>• Report equipment fault on TM-01 (Marked FAULTY).</a:t>
            </a:r>
          </a:p>
        </p:txBody>
      </p:sp>
      <p:sp>
        <p:nvSpPr>
          <p:cNvPr id="11" name="Rounded Rectangle 10"/>
          <p:cNvSpPr/>
          <p:nvPr/>
        </p:nvSpPr>
        <p:spPr>
          <a:xfrm>
            <a:off x="8101584" y="1645920"/>
            <a:ext cx="3328416"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01584" y="1645920"/>
            <a:ext cx="3328416"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874520"/>
            <a:ext cx="2962656" cy="4114800"/>
          </a:xfrm>
          <a:prstGeom prst="rect">
            <a:avLst/>
          </a:prstGeom>
          <a:noFill/>
        </p:spPr>
        <p:txBody>
          <a:bodyPr wrap="square">
            <a:spAutoFit/>
          </a:bodyPr>
          <a:lstStyle/>
          <a:p>
            <a:pPr>
              <a:defRPr sz="1300" b="1">
                <a:solidFill>
                  <a:srgbClr val="0F172A"/>
                </a:solidFill>
              </a:defRPr>
            </a:pPr>
            <a:r>
              <a:t>3. Administrator Walkthrough</a:t>
            </a:r>
          </a:p>
          <a:p>
            <a:pPr>
              <a:spcBef>
                <a:spcPts val="800"/>
              </a:spcBef>
              <a:defRPr sz="1100">
                <a:solidFill>
                  <a:srgbClr val="64748B"/>
                </a:solidFill>
              </a:defRPr>
            </a:pPr>
            <a:r>
              <a:t>• Login as Sarah Connor (ADM-01).</a:t>
            </a:r>
          </a:p>
          <a:p>
            <a:pPr>
              <a:spcBef>
                <a:spcPts val="800"/>
              </a:spcBef>
              <a:defRPr sz="1100">
                <a:solidFill>
                  <a:srgbClr val="64748B"/>
                </a:solidFill>
              </a:defRPr>
            </a:pPr>
            <a:r>
              <a:t>• View equipment wear indices &amp; inventory.</a:t>
            </a:r>
          </a:p>
          <a:p>
            <a:pPr>
              <a:spcBef>
                <a:spcPts val="800"/>
              </a:spcBef>
              <a:defRPr sz="1100">
                <a:solidFill>
                  <a:srgbClr val="64748B"/>
                </a:solidFill>
              </a:defRPr>
            </a:pPr>
            <a:r>
              <a:t>• Register TM-03 via Factory; catch duplicate ID.</a:t>
            </a:r>
          </a:p>
          <a:p>
            <a:pPr>
              <a:spcBef>
                <a:spcPts val="800"/>
              </a:spcBef>
              <a:defRPr sz="1100">
                <a:solidFill>
                  <a:srgbClr val="64748B"/>
                </a:solidFill>
              </a:defRPr>
            </a:pPr>
            <a:r>
              <a:t>• Log 5h on TM-01 -&gt; Triggers Preventative Alert (&gt;= 200h).</a:t>
            </a:r>
          </a:p>
          <a:p>
            <a:pPr>
              <a:spcBef>
                <a:spcPts val="800"/>
              </a:spcBef>
              <a:defRPr sz="1100">
                <a:solidFill>
                  <a:srgbClr val="64748B"/>
                </a:solidFill>
              </a:defRPr>
            </a:pPr>
            <a:r>
              <a:t>• Assign maintenance ticket to ADM-01.</a:t>
            </a:r>
          </a:p>
          <a:p>
            <a:pPr>
              <a:spcBef>
                <a:spcPts val="800"/>
              </a:spcBef>
              <a:defRPr sz="1100">
                <a:solidFill>
                  <a:srgbClr val="64748B"/>
                </a:solidFill>
              </a:defRPr>
            </a:pPr>
            <a:r>
              <a:t>• Complete repair -&gt; Reset usage, restore Operational.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EMPIRICAL TESTING &amp; VERIFICATION HARNESS</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Unit Testing &amp; Robustness Verification</a:t>
            </a:r>
          </a:p>
        </p:txBody>
      </p:sp>
      <p:sp>
        <p:nvSpPr>
          <p:cNvPr id="5" name="Rounded Rectangle 4"/>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defRPr sz="1300" b="1">
                <a:solidFill>
                  <a:srgbClr val="2563EB"/>
                </a:solidFill>
              </a:defRPr>
            </a:pPr>
            <a:r>
              <a:t>JUNIT 5 VERIFICATION SUITE (26 TESTS)</a:t>
            </a:r>
          </a:p>
          <a:p>
            <a:pPr>
              <a:spcBef>
                <a:spcPts val="600"/>
              </a:spcBef>
              <a:defRPr b="1" sz="1100">
                <a:solidFill>
                  <a:srgbClr val="0F172A"/>
                </a:solidFill>
              </a:defRPr>
            </a:pPr>
            <a:r>
              <a:t>• SchedulingServiceTest (8 Tests):</a:t>
            </a:r>
          </a:p>
          <a:p>
            <a:pPr>
              <a:defRPr sz="1000">
                <a:solidFill>
                  <a:srgbClr val="64748B"/>
                </a:solidFill>
              </a:defRPr>
            </a:pPr>
            <a:r>
              <a:t>   Valid scheduling, operating hours (06:00-22:00), studio clash, equipment clash, capacity limits, recurring sessions.</a:t>
            </a:r>
          </a:p>
          <a:p>
            <a:pPr>
              <a:spcBef>
                <a:spcPts val="600"/>
              </a:spcBef>
              <a:defRPr b="1" sz="1100">
                <a:solidFill>
                  <a:srgbClr val="0F172A"/>
                </a:solidFill>
              </a:defRPr>
            </a:pPr>
            <a:r>
              <a:t>• MaintenanceServiceTest (4 Tests):</a:t>
            </a:r>
          </a:p>
          <a:p>
            <a:pPr>
              <a:defRPr sz="1000">
                <a:solidFill>
                  <a:srgbClr val="64748B"/>
                </a:solidFill>
              </a:defRPr>
            </a:pPr>
            <a:r>
              <a:t>   Fault reporting, Pending -&gt; Assigned -&gt; Completed workflow, observer alerts, equipment restoration.</a:t>
            </a:r>
          </a:p>
          <a:p>
            <a:pPr>
              <a:spcBef>
                <a:spcPts val="600"/>
              </a:spcBef>
              <a:defRPr b="1" sz="1100">
                <a:solidFill>
                  <a:srgbClr val="0F172A"/>
                </a:solidFill>
              </a:defRPr>
            </a:pPr>
            <a:r>
              <a:t>• EquipmentServiceTest (4 Tests):</a:t>
            </a:r>
          </a:p>
          <a:p>
            <a:pPr>
              <a:defRPr sz="1000">
                <a:solidFill>
                  <a:srgbClr val="64748B"/>
                </a:solidFill>
              </a:defRPr>
            </a:pPr>
            <a:r>
              <a:t>   Factory instantiation, polymorphic wear calculations, preventative maintenance threshold triggers, duplicate ID checks.</a:t>
            </a:r>
          </a:p>
          <a:p>
            <a:pPr>
              <a:spcBef>
                <a:spcPts val="600"/>
              </a:spcBef>
              <a:defRPr b="1" sz="1100">
                <a:solidFill>
                  <a:srgbClr val="0F172A"/>
                </a:solidFill>
              </a:defRPr>
            </a:pPr>
            <a:r>
              <a:t>• DemoBotIntegrationTest (1 Test):</a:t>
            </a:r>
          </a:p>
          <a:p>
            <a:pPr>
              <a:defRPr sz="1000">
                <a:solidFill>
                  <a:srgbClr val="64748B"/>
                </a:solidFill>
              </a:defRPr>
            </a:pPr>
            <a:r>
              <a:t>   Full 29-step automated end-to-end integration pass.</a:t>
            </a:r>
          </a:p>
          <a:p>
            <a:pPr>
              <a:spcBef>
                <a:spcPts val="600"/>
              </a:spcBef>
              <a:defRPr b="1" sz="1100">
                <a:solidFill>
                  <a:srgbClr val="0F172A"/>
                </a:solidFill>
              </a:defRPr>
            </a:pPr>
            <a:r>
              <a:t>• Execution Metric:</a:t>
            </a:r>
          </a:p>
          <a:p>
            <a:pPr>
              <a:defRPr sz="1000">
                <a:solidFill>
                  <a:srgbClr val="64748B"/>
                </a:solidFill>
              </a:defRPr>
            </a:pPr>
            <a:r>
              <a:t>   Total 26/26 passing in ~1.28 seconds; zero failures or errors.</a:t>
            </a:r>
          </a:p>
        </p:txBody>
      </p:sp>
      <p:sp>
        <p:nvSpPr>
          <p:cNvPr id="7" name="Rounded Rectangle 6"/>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defRPr sz="1300" b="1">
                <a:solidFill>
                  <a:srgbClr val="10B981"/>
                </a:solidFill>
              </a:defRPr>
            </a:pPr>
            <a:r>
              <a:t>INTENTIONAL FAILING / ROBUSTNESS TESTS</a:t>
            </a:r>
          </a:p>
          <a:p>
            <a:pPr>
              <a:spcBef>
                <a:spcPts val="600"/>
              </a:spcBef>
              <a:defRPr b="1" sz="1100">
                <a:solidFill>
                  <a:srgbClr val="0F172A"/>
                </a:solidFill>
              </a:defRPr>
            </a:pPr>
            <a:r>
              <a:t>• Requirement:</a:t>
            </a:r>
          </a:p>
          <a:p>
            <a:pPr>
              <a:defRPr sz="1000">
                <a:solidFill>
                  <a:srgbClr val="64748B"/>
                </a:solidFill>
              </a:defRPr>
            </a:pPr>
            <a:r>
              <a:t>   Brief mandates intentional negative tests verifying custom exceptions are thrown under invalid input conditions.</a:t>
            </a:r>
          </a:p>
          <a:p>
            <a:pPr>
              <a:spcBef>
                <a:spcPts val="600"/>
              </a:spcBef>
              <a:defRPr b="1" sz="1100">
                <a:solidFill>
                  <a:srgbClr val="0F172A"/>
                </a:solidFill>
              </a:defRPr>
            </a:pPr>
            <a:r>
              <a:t>• Test Suite:</a:t>
            </a:r>
          </a:p>
          <a:p>
            <a:pPr>
              <a:defRPr sz="1000">
                <a:solidFill>
                  <a:srgbClr val="64748B"/>
                </a:solidFill>
              </a:defRPr>
            </a:pPr>
            <a:r>
              <a:t>   RobustnessExceptionTest (9 dedicated negative tests).</a:t>
            </a:r>
          </a:p>
          <a:p>
            <a:pPr>
              <a:spcBef>
                <a:spcPts val="600"/>
              </a:spcBef>
              <a:defRPr b="1" sz="1100">
                <a:solidFill>
                  <a:srgbClr val="0F172A"/>
                </a:solidFill>
              </a:defRPr>
            </a:pPr>
            <a:r>
              <a:t>• assertThrows Verification:</a:t>
            </a:r>
          </a:p>
          <a:p>
            <a:pPr>
              <a:defRPr sz="1000">
                <a:solidFill>
                  <a:srgbClr val="64748B"/>
                </a:solidFill>
              </a:defRPr>
            </a:pPr>
            <a:r>
              <a:t>   Verifies assertThrows(UnauthorizedAccessException.class) on Member accessing Admin logs.</a:t>
            </a:r>
          </a:p>
          <a:p>
            <a:pPr>
              <a:spcBef>
                <a:spcPts val="600"/>
              </a:spcBef>
              <a:defRPr b="1" sz="1100">
                <a:solidFill>
                  <a:srgbClr val="0F172A"/>
                </a:solidFill>
              </a:defRPr>
            </a:pPr>
            <a:r>
              <a:t>• Duplicate Prevention:</a:t>
            </a:r>
          </a:p>
          <a:p>
            <a:pPr>
              <a:defRPr sz="1000">
                <a:solidFill>
                  <a:srgbClr val="64748B"/>
                </a:solidFill>
              </a:defRPr>
            </a:pPr>
            <a:r>
              <a:t>   Verifies assertThrows(DuplicateDataException.class) on duplicate equipment and user registrations.</a:t>
            </a:r>
          </a:p>
          <a:p>
            <a:pPr>
              <a:spcBef>
                <a:spcPts val="600"/>
              </a:spcBef>
              <a:defRPr b="1" sz="1100">
                <a:solidFill>
                  <a:srgbClr val="0F172A"/>
                </a:solidFill>
              </a:defRPr>
            </a:pPr>
            <a:r>
              <a:t>• Boundary Prevention:</a:t>
            </a:r>
          </a:p>
          <a:p>
            <a:pPr>
              <a:defRPr sz="1000">
                <a:solidFill>
                  <a:srgbClr val="64748B"/>
                </a:solidFill>
              </a:defRPr>
            </a:pPr>
            <a:r>
              <a:t>   Verifies assertThrows(InvalidBookingException.class) on out-of-hours (04:30) and studio room conflicts.</a:t>
            </a:r>
          </a:p>
          <a:p>
            <a:pPr>
              <a:spcBef>
                <a:spcPts val="600"/>
              </a:spcBef>
              <a:defRPr b="1" sz="1100">
                <a:solidFill>
                  <a:srgbClr val="0F172A"/>
                </a:solidFill>
              </a:defRPr>
            </a:pPr>
            <a:r>
              <a:t>• Entity Integrity:</a:t>
            </a:r>
          </a:p>
          <a:p>
            <a:pPr>
              <a:defRPr sz="1000">
                <a:solidFill>
                  <a:srgbClr val="64748B"/>
                </a:solidFill>
              </a:defRPr>
            </a:pPr>
            <a:r>
              <a:t>   Verifies assertThrows(EntityNotFoundException.class) on unknown entity lookups.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REFLECTIVE LEARNING &amp; ENGINEERING RETROSPECTIVE</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Bugs Identified, Debugging Process &amp; Resolutions</a:t>
            </a:r>
          </a:p>
        </p:txBody>
      </p:sp>
      <p:sp>
        <p:nvSpPr>
          <p:cNvPr id="5" name="Rounded Rectangle 4"/>
          <p:cNvSpPr/>
          <p:nvPr/>
        </p:nvSpPr>
        <p:spPr>
          <a:xfrm>
            <a:off x="731520" y="164592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defRPr sz="1300" b="1">
                <a:solidFill>
                  <a:srgbClr val="2563EB"/>
                </a:solidFill>
              </a:defRPr>
            </a:pPr>
            <a:r>
              <a:t>DEVELOPMENT RETROSPECTIVE: DEFECTS ANALYZED &amp; FIXED</a:t>
            </a:r>
          </a:p>
          <a:p>
            <a:pPr>
              <a:spcBef>
                <a:spcPts val="800"/>
              </a:spcBef>
              <a:defRPr b="1" sz="1100">
                <a:solidFill>
                  <a:srgbClr val="0F172A"/>
                </a:solidFill>
              </a:defRPr>
            </a:pPr>
            <a:r>
              <a:t>Bug 1: Scanner NoSuchElementException on EOF</a:t>
            </a:r>
          </a:p>
          <a:p>
            <a:pPr>
              <a:defRPr sz="1000">
                <a:solidFill>
                  <a:srgbClr val="64748B"/>
                </a:solidFill>
              </a:defRPr>
            </a:pPr>
            <a:r>
              <a:t>• Symptom: ConsoleMenu crashed when scripted batch inputs or piped streams reached EOF. | Root Cause: Direct scanner.nextLine() calls failed to check scanner.hasNextLine(). -&gt; Solution: Resolution: Engineered safe readLine() wrapper detecting stream termination and triggering clean exit.</a:t>
            </a:r>
          </a:p>
          <a:p>
            <a:pPr>
              <a:spcBef>
                <a:spcPts val="800"/>
              </a:spcBef>
              <a:defRPr b="1" sz="1100">
                <a:solidFill>
                  <a:srgbClr val="0F172A"/>
                </a:solidFill>
              </a:defRPr>
            </a:pPr>
            <a:r>
              <a:t>Bug 2: Role Display Name Mismatch in Robustness Test</a:t>
            </a:r>
          </a:p>
          <a:p>
            <a:pPr>
              <a:defRPr sz="1000">
                <a:solidFill>
                  <a:srgbClr val="64748B"/>
                </a:solidFill>
              </a:defRPr>
            </a:pPr>
            <a:r>
              <a:t>• Symptom: testUnauthorizedAccessToAdminMaintenanceLog failed assertion. | Root Cause: Test expected raw enum string 'ADMIN' while AuthService returned display name 'Administrator'. -&gt; Solution: Resolution: Aligned test assertion to verify localized domain model message ('Administrator').</a:t>
            </a:r>
          </a:p>
          <a:p>
            <a:pPr>
              <a:spcBef>
                <a:spcPts val="800"/>
              </a:spcBef>
              <a:defRPr b="1" sz="1100">
                <a:solidFill>
                  <a:srgbClr val="0F172A"/>
                </a:solidFill>
              </a:defRPr>
            </a:pPr>
            <a:r>
              <a:t>Bug 3: Temporal Overlap Boundary Condition Clash</a:t>
            </a:r>
          </a:p>
          <a:p>
            <a:pPr>
              <a:defRPr sz="1000">
                <a:solidFill>
                  <a:srgbClr val="64748B"/>
                </a:solidFill>
              </a:defRPr>
            </a:pPr>
            <a:r>
              <a:t>• Symptom: Adjacent sessions (e.g. ending at 09:00 and starting at 09:00) were flagged as conflicting. | Root Cause: Inclusive boundary checks (&lt;= and &gt;=) treated touchpoints as collisions. -&gt; Solution: Resolution: Implemented strict interval formula: this.startTime &lt; other.endTime &amp;&amp; other.startTime &lt; this.endTime.</a:t>
            </a:r>
          </a:p>
          <a:p>
            <a:pPr>
              <a:spcBef>
                <a:spcPts val="800"/>
              </a:spcBef>
              <a:defRPr b="1" sz="1100">
                <a:solidFill>
                  <a:srgbClr val="0F172A"/>
                </a:solidFill>
              </a:defRPr>
            </a:pPr>
            <a:r>
              <a:t>Bug 4: Dynamic In-Memory UUIDs During Batch Testing</a:t>
            </a:r>
          </a:p>
          <a:p>
            <a:pPr>
              <a:defRPr sz="1000">
                <a:solidFill>
                  <a:srgbClr val="64748B"/>
                </a:solidFill>
              </a:defRPr>
            </a:pPr>
            <a:r>
              <a:t>• Symptom: Automated bot could not know randomly generated booking IDs (BK-...) and ticket IDs (MR-...). | Root Cause: UUID.randomUUID() generates non-deterministic strings on every run. -&gt; Solution: Resolution: Architected dynamic lambda suppliers in DemoBot querying live facade state to feed real IDs.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2563EB"/>
                </a:solidFill>
              </a:defRPr>
            </a:pPr>
            <a:r>
              <a:t>PEDAGOGICAL &amp; PROFESSIONAL DEVELOPMENT</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400" b="1">
                <a:solidFill>
                  <a:srgbClr val="0F172A"/>
                </a:solidFill>
              </a:defRPr>
            </a:pPr>
            <a:r>
              <a:t>Critical Reflection &amp; Cardiff Met EDGE Attributes</a:t>
            </a:r>
          </a:p>
        </p:txBody>
      </p:sp>
      <p:sp>
        <p:nvSpPr>
          <p:cNvPr id="5" name="Rounded Rectangle 4"/>
          <p:cNvSpPr/>
          <p:nvPr/>
        </p:nvSpPr>
        <p:spPr>
          <a:xfrm>
            <a:off x="731520" y="164592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1874520"/>
          </a:xfrm>
          <a:prstGeom prst="rect">
            <a:avLst/>
          </a:prstGeom>
          <a:noFill/>
        </p:spPr>
        <p:txBody>
          <a:bodyPr wrap="square">
            <a:spAutoFit/>
          </a:bodyPr>
          <a:lstStyle/>
          <a:p>
            <a:pPr>
              <a:defRPr sz="1200" b="1">
                <a:solidFill>
                  <a:srgbClr val="0F172A"/>
                </a:solidFill>
              </a:defRPr>
            </a:pPr>
            <a:r>
              <a:t>Digital Skills</a:t>
            </a:r>
          </a:p>
          <a:p>
            <a:pPr>
              <a:spcBef>
                <a:spcPts val="400"/>
              </a:spcBef>
              <a:defRPr sz="1000">
                <a:solidFill>
                  <a:srgbClr val="64748B"/>
                </a:solidFill>
              </a:defRPr>
            </a:pPr>
            <a:r>
              <a:t>• Advanced Java 21/22 proficiency (pattern matching, records).</a:t>
            </a:r>
          </a:p>
          <a:p>
            <a:pPr>
              <a:spcBef>
                <a:spcPts val="400"/>
              </a:spcBef>
              <a:defRPr sz="1000">
                <a:solidFill>
                  <a:srgbClr val="64748B"/>
                </a:solidFill>
              </a:defRPr>
            </a:pPr>
            <a:r>
              <a:t>• 5 GoF Design Patterns applied to real-world domain.</a:t>
            </a:r>
          </a:p>
          <a:p>
            <a:pPr>
              <a:spcBef>
                <a:spcPts val="400"/>
              </a:spcBef>
              <a:defRPr sz="1000">
                <a:solidFill>
                  <a:srgbClr val="64748B"/>
                </a:solidFill>
              </a:defRPr>
            </a:pPr>
            <a:r>
              <a:t>• Type-safe Generics and Java Collections Framework.</a:t>
            </a:r>
          </a:p>
          <a:p>
            <a:pPr>
              <a:spcBef>
                <a:spcPts val="400"/>
              </a:spcBef>
              <a:defRPr sz="1000">
                <a:solidFill>
                  <a:srgbClr val="64748B"/>
                </a:solidFill>
              </a:defRPr>
            </a:pPr>
            <a:r>
              <a:t>• Automated JUnit 5 harness with 26 automated tests.</a:t>
            </a:r>
          </a:p>
        </p:txBody>
      </p:sp>
      <p:sp>
        <p:nvSpPr>
          <p:cNvPr id="8" name="Rounded Rectangle 7"/>
          <p:cNvSpPr/>
          <p:nvPr/>
        </p:nvSpPr>
        <p:spPr>
          <a:xfrm>
            <a:off x="6217920" y="164592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645920"/>
            <a:ext cx="5120640"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754880" cy="1874520"/>
          </a:xfrm>
          <a:prstGeom prst="rect">
            <a:avLst/>
          </a:prstGeom>
          <a:noFill/>
        </p:spPr>
        <p:txBody>
          <a:bodyPr wrap="square">
            <a:spAutoFit/>
          </a:bodyPr>
          <a:lstStyle/>
          <a:p>
            <a:pPr>
              <a:defRPr sz="1200" b="1">
                <a:solidFill>
                  <a:srgbClr val="0F172A"/>
                </a:solidFill>
              </a:defRPr>
            </a:pPr>
            <a:r>
              <a:t>Ethical Practice</a:t>
            </a:r>
          </a:p>
          <a:p>
            <a:pPr>
              <a:spcBef>
                <a:spcPts val="400"/>
              </a:spcBef>
              <a:defRPr sz="1000">
                <a:solidFill>
                  <a:srgbClr val="64748B"/>
                </a:solidFill>
              </a:defRPr>
            </a:pPr>
            <a:r>
              <a:t>• Role-Based Access Control upholds user privacy.</a:t>
            </a:r>
          </a:p>
          <a:p>
            <a:pPr>
              <a:spcBef>
                <a:spcPts val="400"/>
              </a:spcBef>
              <a:defRPr sz="1000">
                <a:solidFill>
                  <a:srgbClr val="64748B"/>
                </a:solidFill>
              </a:defRPr>
            </a:pPr>
            <a:r>
              <a:t>• Equipment usage tracking prevents machinery failures.</a:t>
            </a:r>
          </a:p>
          <a:p>
            <a:pPr>
              <a:spcBef>
                <a:spcPts val="400"/>
              </a:spcBef>
              <a:defRPr sz="1000">
                <a:solidFill>
                  <a:srgbClr val="64748B"/>
                </a:solidFill>
              </a:defRPr>
            </a:pPr>
            <a:r>
              <a:t>• Preventative maintenance safeguards member physical safety.</a:t>
            </a:r>
          </a:p>
        </p:txBody>
      </p:sp>
      <p:sp>
        <p:nvSpPr>
          <p:cNvPr id="11" name="Rounded Rectangle 10"/>
          <p:cNvSpPr/>
          <p:nvPr/>
        </p:nvSpPr>
        <p:spPr>
          <a:xfrm>
            <a:off x="731520" y="406908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069080"/>
            <a:ext cx="512064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06240"/>
            <a:ext cx="4754880" cy="1874520"/>
          </a:xfrm>
          <a:prstGeom prst="rect">
            <a:avLst/>
          </a:prstGeom>
          <a:noFill/>
        </p:spPr>
        <p:txBody>
          <a:bodyPr wrap="square">
            <a:spAutoFit/>
          </a:bodyPr>
          <a:lstStyle/>
          <a:p>
            <a:pPr>
              <a:defRPr sz="1200" b="1">
                <a:solidFill>
                  <a:srgbClr val="0F172A"/>
                </a:solidFill>
              </a:defRPr>
            </a:pPr>
            <a:r>
              <a:t>Global Perspectives</a:t>
            </a:r>
          </a:p>
          <a:p>
            <a:pPr>
              <a:spcBef>
                <a:spcPts val="400"/>
              </a:spcBef>
              <a:defRPr sz="1000">
                <a:solidFill>
                  <a:srgbClr val="64748B"/>
                </a:solidFill>
              </a:defRPr>
            </a:pPr>
            <a:r>
              <a:t>• Robust temporal modeling via java.time (LocalDateTime, DayOfWeek).</a:t>
            </a:r>
          </a:p>
          <a:p>
            <a:pPr>
              <a:spcBef>
                <a:spcPts val="400"/>
              </a:spcBef>
              <a:defRPr sz="1000">
                <a:solidFill>
                  <a:srgbClr val="64748B"/>
                </a:solidFill>
              </a:defRPr>
            </a:pPr>
            <a:r>
              <a:t>• Eliminated legacy java.util.Date timezone and daylight saving bugs.</a:t>
            </a:r>
          </a:p>
        </p:txBody>
      </p:sp>
      <p:sp>
        <p:nvSpPr>
          <p:cNvPr id="14" name="Rounded Rectangle 13"/>
          <p:cNvSpPr/>
          <p:nvPr/>
        </p:nvSpPr>
        <p:spPr>
          <a:xfrm>
            <a:off x="6217920" y="406908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4069080"/>
            <a:ext cx="512064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206240"/>
            <a:ext cx="4754880" cy="1874520"/>
          </a:xfrm>
          <a:prstGeom prst="rect">
            <a:avLst/>
          </a:prstGeom>
          <a:noFill/>
        </p:spPr>
        <p:txBody>
          <a:bodyPr wrap="square">
            <a:spAutoFit/>
          </a:bodyPr>
          <a:lstStyle/>
          <a:p>
            <a:pPr>
              <a:defRPr sz="1200" b="1">
                <a:solidFill>
                  <a:srgbClr val="0F172A"/>
                </a:solidFill>
              </a:defRPr>
            </a:pPr>
            <a:r>
              <a:t>Entrepreneurial Acumen</a:t>
            </a:r>
          </a:p>
          <a:p>
            <a:pPr>
              <a:spcBef>
                <a:spcPts val="400"/>
              </a:spcBef>
              <a:defRPr sz="1000">
                <a:solidFill>
                  <a:srgbClr val="64748B"/>
                </a:solidFill>
              </a:defRPr>
            </a:pPr>
            <a:r>
              <a:t>• Decoupled 6-tier architecture ready for multi-site scaling.</a:t>
            </a:r>
          </a:p>
          <a:p>
            <a:pPr>
              <a:spcBef>
                <a:spcPts val="400"/>
              </a:spcBef>
              <a:defRPr sz="1000">
                <a:solidFill>
                  <a:srgbClr val="64748B"/>
                </a:solidFill>
              </a:defRPr>
            </a:pPr>
            <a:r>
              <a:t>• Automated preventative maintenance reduces gym operating overhead.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548640"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1097280"/>
          </a:xfrm>
          <a:prstGeom prst="rect">
            <a:avLst/>
          </a:prstGeom>
          <a:noFill/>
        </p:spPr>
        <p:txBody>
          <a:bodyPr wrap="square">
            <a:spAutoFit/>
          </a:bodyPr>
          <a:lstStyle/>
          <a:p>
            <a:pPr>
              <a:defRPr sz="2800" b="1">
                <a:solidFill>
                  <a:srgbClr val="F8FAFC"/>
                </a:solidFill>
              </a:defRPr>
            </a:pPr>
            <a:r>
              <a:t>SUMMARY OF ACHIEVEMENTS &amp; ENTERPRISE ROADMAP</a:t>
            </a:r>
          </a:p>
        </p:txBody>
      </p:sp>
      <p:sp>
        <p:nvSpPr>
          <p:cNvPr id="5" name="Rounded Rectangle 4"/>
          <p:cNvSpPr/>
          <p:nvPr/>
        </p:nvSpPr>
        <p:spPr>
          <a:xfrm>
            <a:off x="731520" y="2377440"/>
            <a:ext cx="51206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60320"/>
            <a:ext cx="4663440" cy="3566160"/>
          </a:xfrm>
          <a:prstGeom prst="rect">
            <a:avLst/>
          </a:prstGeom>
          <a:noFill/>
        </p:spPr>
        <p:txBody>
          <a:bodyPr wrap="square">
            <a:spAutoFit/>
          </a:bodyPr>
          <a:lstStyle/>
          <a:p>
            <a:pPr>
              <a:defRPr sz="1300" b="1">
                <a:solidFill>
                  <a:srgbClr val="06B6D4"/>
                </a:solidFill>
              </a:defRPr>
            </a:pPr>
            <a:r>
              <a:t>DELIVERABLES COMPLETED</a:t>
            </a:r>
          </a:p>
          <a:p>
            <a:pPr>
              <a:spcBef>
                <a:spcPts val="800"/>
              </a:spcBef>
              <a:defRPr sz="1100">
                <a:solidFill>
                  <a:srgbClr val="F8FAFC"/>
                </a:solidFill>
              </a:defRPr>
            </a:pPr>
            <a:r>
              <a:t>✅ Fully Functional Java 21/22 Prototype adhering to SOLID principles.</a:t>
            </a:r>
          </a:p>
          <a:p>
            <a:pPr>
              <a:spcBef>
                <a:spcPts val="800"/>
              </a:spcBef>
              <a:defRPr sz="1100">
                <a:solidFill>
                  <a:srgbClr val="F8FAFC"/>
                </a:solidFill>
              </a:defRPr>
            </a:pPr>
            <a:r>
              <a:t>✅ 5 GoF Design Patterns (Factory, Builder, Facade, Observer, Strategy).</a:t>
            </a:r>
          </a:p>
          <a:p>
            <a:pPr>
              <a:spcBef>
                <a:spcPts val="800"/>
              </a:spcBef>
              <a:defRPr sz="1100">
                <a:solidFill>
                  <a:srgbClr val="F8FAFC"/>
                </a:solidFill>
              </a:defRPr>
            </a:pPr>
            <a:r>
              <a:t>✅ Type-Safe Generics &amp; Java Collections generic repository.</a:t>
            </a:r>
          </a:p>
          <a:p>
            <a:pPr>
              <a:spcBef>
                <a:spcPts val="800"/>
              </a:spcBef>
              <a:defRPr sz="1100">
                <a:solidFill>
                  <a:srgbClr val="F8FAFC"/>
                </a:solidFill>
              </a:defRPr>
            </a:pPr>
            <a:r>
              <a:t>✅ Custom Checked Exception Hierarchy enforcing security boundaries.</a:t>
            </a:r>
          </a:p>
          <a:p>
            <a:pPr>
              <a:spcBef>
                <a:spcPts val="800"/>
              </a:spcBef>
              <a:defRPr sz="1100">
                <a:solidFill>
                  <a:srgbClr val="F8FAFC"/>
                </a:solidFill>
              </a:defRPr>
            </a:pPr>
            <a:r>
              <a:t>✅ 26 JUnit 5 Unit Tests (100% pass rate) with intentional failing tests.</a:t>
            </a:r>
          </a:p>
          <a:p>
            <a:pPr>
              <a:spcBef>
                <a:spcPts val="800"/>
              </a:spcBef>
              <a:defRPr sz="1100">
                <a:solidFill>
                  <a:srgbClr val="F8FAFC"/>
                </a:solidFill>
              </a:defRPr>
            </a:pPr>
            <a:r>
              <a:t>✅ Automated End-to-End Simulation Bot verifying 29 lifecycle steps.</a:t>
            </a:r>
          </a:p>
        </p:txBody>
      </p:sp>
      <p:sp>
        <p:nvSpPr>
          <p:cNvPr id="7" name="Rounded Rectangle 6"/>
          <p:cNvSpPr/>
          <p:nvPr/>
        </p:nvSpPr>
        <p:spPr>
          <a:xfrm>
            <a:off x="6217920" y="2377440"/>
            <a:ext cx="5212080" cy="39319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560320"/>
            <a:ext cx="4754880" cy="3566160"/>
          </a:xfrm>
          <a:prstGeom prst="rect">
            <a:avLst/>
          </a:prstGeom>
          <a:noFill/>
        </p:spPr>
        <p:txBody>
          <a:bodyPr wrap="square">
            <a:spAutoFit/>
          </a:bodyPr>
          <a:lstStyle/>
          <a:p>
            <a:pPr>
              <a:defRPr sz="1300" b="1">
                <a:solidFill>
                  <a:srgbClr val="10B981"/>
                </a:solidFill>
              </a:defRPr>
            </a:pPr>
            <a:r>
              <a:t>PRODUCTION TRANSITION ROADMAP</a:t>
            </a:r>
          </a:p>
          <a:p>
            <a:pPr>
              <a:spcBef>
                <a:spcPts val="800"/>
              </a:spcBef>
              <a:defRPr b="1" sz="1100">
                <a:solidFill>
                  <a:srgbClr val="F8FAFC"/>
                </a:solidFill>
              </a:defRPr>
            </a:pPr>
            <a:r>
              <a:t>🚀 Persistence Migration:</a:t>
            </a:r>
          </a:p>
          <a:p>
            <a:pPr>
              <a:defRPr sz="1000">
                <a:solidFill>
                  <a:srgbClr val="94A3B8"/>
                </a:solidFill>
              </a:defRPr>
            </a:pPr>
            <a:r>
              <a:t>   Migrate InMemoryRepository to Spring Data JPA &amp; PostgreSQL without touching service layer.</a:t>
            </a:r>
          </a:p>
          <a:p>
            <a:pPr>
              <a:spcBef>
                <a:spcPts val="800"/>
              </a:spcBef>
              <a:defRPr b="1" sz="1100">
                <a:solidFill>
                  <a:srgbClr val="F8FAFC"/>
                </a:solidFill>
              </a:defRPr>
            </a:pPr>
            <a:r>
              <a:t>🚀 Distributed Event Stream:</a:t>
            </a:r>
          </a:p>
          <a:p>
            <a:pPr>
              <a:defRPr sz="1000">
                <a:solidFill>
                  <a:srgbClr val="94A3B8"/>
                </a:solidFill>
              </a:defRPr>
            </a:pPr>
            <a:r>
              <a:t>   Transition NotificationSubject to Apache Kafka / RabbitMQ for microservice notifications.</a:t>
            </a:r>
          </a:p>
          <a:p>
            <a:pPr>
              <a:spcBef>
                <a:spcPts val="800"/>
              </a:spcBef>
              <a:defRPr b="1" sz="1100">
                <a:solidFill>
                  <a:srgbClr val="F8FAFC"/>
                </a:solidFill>
              </a:defRPr>
            </a:pPr>
            <a:r>
              <a:t>🚀 Concurrency Optimization:</a:t>
            </a:r>
          </a:p>
          <a:p>
            <a:pPr>
              <a:defRPr sz="1000">
                <a:solidFill>
                  <a:srgbClr val="94A3B8"/>
                </a:solidFill>
              </a:defRPr>
            </a:pPr>
            <a:r>
              <a:t>   Implement optimistic database row locking (@Version) for high-frequency bookings.</a:t>
            </a:r>
          </a:p>
          <a:p>
            <a:pPr>
              <a:spcBef>
                <a:spcPts val="800"/>
              </a:spcBef>
              <a:defRPr b="1" sz="1100">
                <a:solidFill>
                  <a:srgbClr val="F8FAFC"/>
                </a:solidFill>
              </a:defRPr>
            </a:pPr>
            <a:r>
              <a:t>🚀 Cross-Platform UI:</a:t>
            </a:r>
          </a:p>
          <a:p>
            <a:pPr>
              <a:defRPr sz="1000">
                <a:solidFill>
                  <a:srgbClr val="94A3B8"/>
                </a:solidFill>
              </a:defRPr>
            </a:pPr>
            <a:r>
              <a:t>   Expose REST APIs for React Native mobile and web clients.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